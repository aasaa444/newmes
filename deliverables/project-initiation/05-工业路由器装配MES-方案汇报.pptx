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notesMasters/notesMaster1.xml" ContentType="application/vnd.openxmlformats-officedocument.presentationml.notesMaster+xml"/>
  <ns0:Override PartName="/ppt/notesMasters/theme/theme3.xml" ContentType="application/vnd.openxmlformats-officedocument.theme+xml"/>
  <ns0:Override PartName="/ppt/presProps.xml" ContentType="application/vnd.openxmlformats-officedocument.presentationml.pres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09b40f04be403c" /><Relationship Type="http://schemas.openxmlformats.org/officeDocument/2006/relationships/extended-properties" Target="/docProps/app.xml" Id="Rb8d9ede9529e4998" /><Relationship Type="http://schemas.openxmlformats.org/officeDocument/2006/relationships/officeDocument" Target="/ppt/presentation.xml" Id="R70fda0fcf27d42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b0520a56444ac3"/>
  </p:sldMasterIdLst>
  <p:notesMasterIdLst>
    <p:notesMasterId xmlns:r="http://schemas.openxmlformats.org/officeDocument/2006/relationships" r:id="R79364373b24448bb"/>
  </p:notesMasterIdLst>
  <p:sldIdLst>
    <p:sldId xmlns:r="http://schemas.openxmlformats.org/officeDocument/2006/relationships" id="256" r:id="R06675a2a6afb4aff"/>
    <p:sldId xmlns:r="http://schemas.openxmlformats.org/officeDocument/2006/relationships" id="257" r:id="Re81b174c3ebf4e7f"/>
    <p:sldId xmlns:r="http://schemas.openxmlformats.org/officeDocument/2006/relationships" id="258" r:id="R39ffe899872f41e3"/>
    <p:sldId xmlns:r="http://schemas.openxmlformats.org/officeDocument/2006/relationships" id="259" r:id="Rd3648944fb7b4d7d"/>
    <p:sldId xmlns:r="http://schemas.openxmlformats.org/officeDocument/2006/relationships" id="260" r:id="R320d1cf9f19048c8"/>
    <p:sldId xmlns:r="http://schemas.openxmlformats.org/officeDocument/2006/relationships" id="261" r:id="R989d8e9be3ca42fd"/>
    <p:sldId xmlns:r="http://schemas.openxmlformats.org/officeDocument/2006/relationships" id="262" r:id="R4ed6b71324b142ae"/>
    <p:sldId xmlns:r="http://schemas.openxmlformats.org/officeDocument/2006/relationships" id="263" r:id="Rb1caea855d0f4398"/>
    <p:sldId xmlns:r="http://schemas.openxmlformats.org/officeDocument/2006/relationships" id="264" r:id="R70c3eb7b0f3e4cc7"/>
    <p:sldId xmlns:r="http://schemas.openxmlformats.org/officeDocument/2006/relationships" id="265" r:id="Rbe14bd80e59a4a37"/>
    <p:sldId xmlns:r="http://schemas.openxmlformats.org/officeDocument/2006/relationships" id="266" r:id="R096bea2fbd5d4e92"/>
    <p:sldId xmlns:r="http://schemas.openxmlformats.org/officeDocument/2006/relationships" id="267" r:id="R4ebfba56e3064008"/>
    <p:sldId xmlns:r="http://schemas.openxmlformats.org/officeDocument/2006/relationships" id="268" r:id="Rf8f9d380387446ce"/>
    <p:sldId xmlns:r="http://schemas.openxmlformats.org/officeDocument/2006/relationships" id="269" r:id="R2035296051e04aa6"/>
    <p:sldId xmlns:r="http://schemas.openxmlformats.org/officeDocument/2006/relationships" id="270" r:id="Rba1c153fd5da43ba"/>
    <p:sldId xmlns:r="http://schemas.openxmlformats.org/officeDocument/2006/relationships" id="271" r:id="Rb3f921198ad443a0"/>
    <p:sldId xmlns:r="http://schemas.openxmlformats.org/officeDocument/2006/relationships" id="272" r:id="R835b76e0cbe04834"/>
    <p:sldId xmlns:r="http://schemas.openxmlformats.org/officeDocument/2006/relationships" id="273" r:id="R89f87144ca654e6f"/>
    <p:sldId xmlns:r="http://schemas.openxmlformats.org/officeDocument/2006/relationships" id="274" r:id="R5752776a790844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298dd92a954ded" /><Relationship Type="http://schemas.openxmlformats.org/officeDocument/2006/relationships/slideMaster" Target="/ppt/slideMasters/slideMaster1.xml" Id="R3ab0520a56444ac3" /><Relationship Type="http://schemas.openxmlformats.org/officeDocument/2006/relationships/notesMaster" Target="/ppt/notesMasters/notesMaster1.xml" Id="R79364373b24448bb" /><Relationship Type="http://schemas.openxmlformats.org/officeDocument/2006/relationships/presProps" Target="/ppt/presProps.xml" Id="Rf604d77a39c74588" /><Relationship Type="http://schemas.openxmlformats.org/officeDocument/2006/relationships/tableStyles" Target="/ppt/tableStyles.xml" Id="R888c0ab68dea4ea8" /><Relationship Type="http://schemas.openxmlformats.org/officeDocument/2006/relationships/slide" Target="/ppt/slides/slide1.xml" Id="R06675a2a6afb4aff" /><Relationship Type="http://schemas.openxmlformats.org/officeDocument/2006/relationships/slide" Target="/ppt/slides/slide2.xml" Id="Re81b174c3ebf4e7f" /><Relationship Type="http://schemas.openxmlformats.org/officeDocument/2006/relationships/slide" Target="/ppt/slides/slide3.xml" Id="R39ffe899872f41e3" /><Relationship Type="http://schemas.openxmlformats.org/officeDocument/2006/relationships/slide" Target="/ppt/slides/slide4.xml" Id="Rd3648944fb7b4d7d" /><Relationship Type="http://schemas.openxmlformats.org/officeDocument/2006/relationships/slide" Target="/ppt/slides/slide5.xml" Id="R320d1cf9f19048c8" /><Relationship Type="http://schemas.openxmlformats.org/officeDocument/2006/relationships/slide" Target="/ppt/slides/slide6.xml" Id="R989d8e9be3ca42fd" /><Relationship Type="http://schemas.openxmlformats.org/officeDocument/2006/relationships/slide" Target="/ppt/slides/slide7.xml" Id="R4ed6b71324b142ae" /><Relationship Type="http://schemas.openxmlformats.org/officeDocument/2006/relationships/slide" Target="/ppt/slides/slide8.xml" Id="Rb1caea855d0f4398" /><Relationship Type="http://schemas.openxmlformats.org/officeDocument/2006/relationships/slide" Target="/ppt/slides/slide9.xml" Id="R70c3eb7b0f3e4cc7" /><Relationship Type="http://schemas.openxmlformats.org/officeDocument/2006/relationships/slide" Target="/ppt/slides/slide10.xml" Id="Rbe14bd80e59a4a37" /><Relationship Type="http://schemas.openxmlformats.org/officeDocument/2006/relationships/slide" Target="/ppt/slides/slide11.xml" Id="R096bea2fbd5d4e92" /><Relationship Type="http://schemas.openxmlformats.org/officeDocument/2006/relationships/slide" Target="/ppt/slides/slide12.xml" Id="R4ebfba56e3064008" /><Relationship Type="http://schemas.openxmlformats.org/officeDocument/2006/relationships/slide" Target="/ppt/slides/slide13.xml" Id="Rf8f9d380387446ce" /><Relationship Type="http://schemas.openxmlformats.org/officeDocument/2006/relationships/slide" Target="/ppt/slides/slide14.xml" Id="R2035296051e04aa6" /><Relationship Type="http://schemas.openxmlformats.org/officeDocument/2006/relationships/slide" Target="/ppt/slides/slide15.xml" Id="Rba1c153fd5da43ba" /><Relationship Type="http://schemas.openxmlformats.org/officeDocument/2006/relationships/slide" Target="/ppt/slides/slide16.xml" Id="Rb3f921198ad443a0" /><Relationship Type="http://schemas.openxmlformats.org/officeDocument/2006/relationships/slide" Target="/ppt/slides/slide17.xml" Id="R835b76e0cbe04834" /><Relationship Type="http://schemas.openxmlformats.org/officeDocument/2006/relationships/slide" Target="/ppt/slides/slide18.xml" Id="R89f87144ca654e6f" /><Relationship Type="http://schemas.openxmlformats.org/officeDocument/2006/relationships/slide" Target="/ppt/slides/slide19.xml" Id="R5752776a790844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434b311d0644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5e7a502854f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9c0589b35c468b" /><Relationship Type="http://schemas.openxmlformats.org/officeDocument/2006/relationships/slideLayout" Target="/ppt/slideLayouts/slideLayout1.xml" Id="R43998bf128da4a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998bf128da4a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9484d69d06347d7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7714ee60ac9433a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873cbfb09c94c86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2d9fb8922774832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1ac8aab6cd6497b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e950f7147984049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502603372044641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95253de388a42be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7f73afc06d34ee6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6d42bd411d34e44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8d4a4dee9804074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850a0d7f79948ca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f08b71aae9544ad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0acc50acc324ddc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72d35b2f1d64508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73b62133ad2482b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0345a0789e44916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e89996a6a5f42c3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4d9df242df642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B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7C753-B3D5-4028-BE68-0194C361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13385-D423-474C-AF44-4314C878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1EEE4-2D24-496B-945A-4AF6A1C2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工业路由器装配 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BD3E9-11F9-4BBE-91A5-4CFD3690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试点候选方案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827D6-24F3-4DD0-9084-B0E13191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以成品 SN 全过程追溯为第一价值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F0092-DBE3-4C23-AC3A-20D57A7D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70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AAF0F-D01F-4FF5-836A-1F60EB9D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范围克制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FFD5A-807B-4165-85E7-A67CA832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70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2D343-BFF3-4B37-9458-13A33547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719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证据透明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DF679-2C9C-41DF-A6CD-50D63E2A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433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70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DA4F0-BCFE-4FB2-BD30-6D9CD9DC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71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可增量救援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FD157-8291-4B0A-AEC5-341910F2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高级售前工程师  李先生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0FAAA-2BE4-485C-B95F-F8D54D0A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方案基线 0.1  |  2026-07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E1B7E-9511-4924-8DB2-43BB4A51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1244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候选方案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不是客户已验收事实</a:t>
            </a:r>
          </a:p>
        </p:txBody>
      </p:sp>
    </p:spTree>
    <p:extLst>
      <p:ext uri="{BB962C8B-B14F-4D97-AF65-F5344CB8AC3E}">
        <p14:creationId xmlns:p14="http://schemas.microsoft.com/office/powerpoint/2010/main" val="39601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E1F71-DF59-4A61-A5EF-9BF35B49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A4904-9210-4698-866E-04007F14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D33BE-38F8-451E-A88D-3C59276D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01 决策摘要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CF47F-D53A-45BD-99E4-43F45424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先建立可核验事实，再扩展经营可视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017A3-70EA-45AD-B0CA-7F975ED4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38863-604C-407F-8AE6-33DDBD99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E35DE-8CE0-4847-BFE2-AA79BF8E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28996-8579-4E9C-AED8-946DA1A4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2D04A-A2D1-4158-9E98-5290D056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CC2B2-72E4-433C-8F53-236CC9CA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4572000" cy="4095750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B7E3A-1AEE-4659-A9D7-BF310980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第一阶段的唯一主线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E538E-5F21-4F60-84F8-22D4A6E1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3790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每台成品 SN 的订单、工艺、物料、固件、测试、质量与回执，形成一条不可覆盖的事实链。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7085C-90A8-4472-B8B4-4755236E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6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0F5BC-4113-452A-9A3E-ED4F1E09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不是先做 OEE、大屏或完整 WMS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9F40E-1901-413E-A906-632037A9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28750"/>
            <a:ext cx="60960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2F2A5-949D-4470-A1F7-D8880455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287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E0D8C-28F6-4000-9EBA-76DD1B53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4305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01 先追溯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5B0CA-FE6D-4738-AC84-E0967A43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66900"/>
            <a:ext cx="577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固定 SN 可导出订单、快照、工序、物料、固件、测试、质量和回执。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91DA2-D93A-4E2C-A12C-3B65F0A8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24150"/>
            <a:ext cx="60960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9AA9D-1FBA-4908-903E-33E219D5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24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C3370-AD61-4A25-9D27-4F9C4A99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3845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02 后扩展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54F32-A6F0-4B13-926D-1A03983B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62300"/>
            <a:ext cx="577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效率分析、经营可视和系统集成都建立在可信制造事实之上。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82F9F-5484-40AD-B883-FC14F28D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19550"/>
            <a:ext cx="60960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15C12-0DAF-4B88-BB69-EDBD9C4D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195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60922C-9FA0-4777-B995-F11AC5C1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3385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03 先验证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0DE4A6-985A-4FC3-B5EA-9C57F388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57700"/>
            <a:ext cx="577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公开资料只支撑边界；工艺顺序、阈值和接口字段必须在工作坊确认。</a:t>
            </a:r>
          </a:p>
        </p:txBody>
      </p:sp>
    </p:spTree>
    <p:extLst>
      <p:ext uri="{BB962C8B-B14F-4D97-AF65-F5344CB8AC3E}">
        <p14:creationId xmlns:p14="http://schemas.microsoft.com/office/powerpoint/2010/main" val="1626222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7D68DF-55CD-4B44-B923-1B028795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FC2AA-FCFA-44B6-BEBC-886E23AF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E6952-C0D8-4A58-8DC0-FC9ED4F1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02 目标工厂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BB318-9401-41BB-8E8D-09FD060F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我们假设的是一类工厂，不是假装认识某一家工厂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CAF4B-D558-47BF-90ED-F1D8794A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B12CA-7580-4967-B1B5-6970E8F4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FB98C-BEE0-4D56-BA77-69657359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D5B90-6E2B-4F4A-9244-53095EBF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BDDB1-6CDB-4549-B102-8EF22AC0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0C6DC-9AB7-4334-8C88-97D3E00C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候选工厂画像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7069E-07FD-4276-B6BA-01FA77DA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34290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82080-5C8B-440A-BB63-3E00E59D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AC0B6-14A6-41A7-9BDE-71A33017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离散装配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3F17D-DF52-42D8-B56E-FB7DCAD7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工业路由器由已测 PCBA、结构件、模块与标签进入整机装配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1A3F9-4901-4D07-903B-C66D36E5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34290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1123A-71FE-4D69-97BC-1CF17521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EEEC2-1C5C-4BC5-B050-F64C5DBD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669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身份密集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2023D-FE20-4598-92E7-69A06459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成品 SN、部件 SN、MAC、证书与标签需要来源和绑定历史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3725B-6D01-4F76-A4E4-A789F5BA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4290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0B6BB-9110-41A8-A12E-79F6605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CCB8C-D733-434F-825C-A22FCB86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测试关键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D6B9D-7D21-4E53-88BC-5F2FF352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固件配置、功能测试、质量处置决定是否允许完工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29A194-24BC-4BF4-BF5E-7661FD57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当前断点假设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607E4-E15C-4B8E-BACB-D1980F1B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34290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23F117-583A-449F-9FCA-DA678C13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92E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9915C8-671B-48C7-B917-0BA5B09E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订单变更无执行快照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208E20-DE86-4F21-853E-4AA210E8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模板漂移 → 同一订单不同 SN 难以解释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7C2717-4785-4872-BA33-DC9D7A39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34290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9D1DFA-8CB9-43C2-87A9-CA065A7C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92E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9B36CD-F31F-47D8-A61E-6B1CDAF9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测试与质量被状态覆盖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3EA496-44DE-4741-A48E-F0B10E43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91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失败被改写 → 无法证明返工与复测责任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0C6E07-782A-44DF-87EA-048BA891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34290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84F3A3-D1AA-4B56-BE45-9DED3C1E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92E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2F4C1F-A2A2-48EE-9EA9-8807ED63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ERP 回执缺少对账闭环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891BDC-0A47-4BB7-915D-9F54A92E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模拟成功 → 财务/库存结果仍可能未落账</a:t>
            </a:r>
          </a:p>
        </p:txBody>
      </p:sp>
    </p:spTree>
    <p:extLst>
      <p:ext uri="{BB962C8B-B14F-4D97-AF65-F5344CB8AC3E}">
        <p14:creationId xmlns:p14="http://schemas.microsoft.com/office/powerpoint/2010/main" val="1900888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27CEA0-797F-42F9-98CF-9A2CD9AD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D35A9-D22B-40C5-80B2-0E75DAF8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19C29-6033-47A5-BDE8-4EAE8284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03 痛点归因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56C59-C197-42C5-B466-4CA03584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问题不在缺页面，而在缺少执行事实与责任闭环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93182-955E-4E67-BBAF-BDA62A98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1FE21-ADF2-43B6-AE68-E1BD4672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2466D-DB44-480E-93C7-E1271FD5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B8ED2-E02B-4831-8D2C-048CCF03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9A0FD-333E-4D57-9BD8-5ECCBF9D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C919D-9D71-46C5-A118-7BBFDB48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表面现象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1BD9D-BE60-44E8-8262-47F07338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38100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2D5BA-9487-4853-8E8F-86969901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重复录入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A315F-914B-44B5-9DA3-E82B9F80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纸面、Excel 与系统结果并存 → 查询时重新拼事实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315DE-1ABD-49EA-9918-64C76B85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38100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61162-ACC5-41D3-890B-36F865BB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状态自由修改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8727B-6F84-432D-A854-D3EA5195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当前结果覆盖历史 → 无法证明谁在何时做了什么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3BFB3-6020-466B-AA7C-1C9BC78F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8100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89BDC-E41A-45AF-8768-014599A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系统各自成功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B8C71-10C0-4E72-990B-3904F71B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MES 显示发送 → ERP 可能拒绝、重试或重复入账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45256-CE4C-4ED8-BBD1-B7613BD4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1143000" cy="838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33C9C-EE9C-44E8-B6B6-776DFD4D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42925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FA2A7-0FB2-4CF3-909F-6D166AC6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根因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5B2AC-8A95-463D-A931-588EDB1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业务规则、制造事件、当前状态与职责没有被分开建模。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F8643-D63C-4E38-9EBB-484D94ED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3380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93A3D5-3BE0-4919-B949-DED76A9F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页面越多，只会让错误语义扩散得更快。</a:t>
            </a:r>
          </a:p>
        </p:txBody>
      </p:sp>
    </p:spTree>
    <p:extLst>
      <p:ext uri="{BB962C8B-B14F-4D97-AF65-F5344CB8AC3E}">
        <p14:creationId xmlns:p14="http://schemas.microsoft.com/office/powerpoint/2010/main" val="17312478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F82B70-79B0-4E8D-B20A-5208C494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651A1-DF6F-4827-89F1-77C85AA9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0ABC9-46D7-42D0-B832-ED7CAE6D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04 试点边界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E941F-A9D3-4B5F-ADE9-FA80BFDD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从已测 PCBA 开始，到合格整机交接为止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649C3-6F41-44C9-9CF3-42CBAA36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C62AA-08BC-41EC-8217-1DCB4685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F6227-D702-4794-99DD-4AF55190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C70E7-ADA9-4FB1-9ABA-CC4388AB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EE785-5899-4BA3-88B1-E832C7BC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70695-7949-4873-B220-DC2D8C68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范围内：形成可闭环的整机装配主线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07F85-B6C7-4A51-BF08-254BA7E2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65735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DD8AE-872E-4F9D-AF21-86D0000B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START_WIP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17120-5CB1-4663-83F4-2A318970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85950"/>
            <a:ext cx="165735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7ACFD-0F35-4865-8198-0CA3C9C5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764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装配绑定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1FB0D-DA14-41E9-B9B5-7EE28452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85950"/>
            <a:ext cx="165735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CCD89-1104-4B00-B161-96323392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固件配置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F05DE-8EC3-406F-BB4F-516C0991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165735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2AEE7-C963-4B4B-B7EB-71769A98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764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功能测试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57CEC-B969-454A-99CA-D25D5C0B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165735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E56DF6-B285-4CFB-9A20-C2E5AA34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764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终检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F4D73-2F35-4C56-A811-1FA403EA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165735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F8A5B-0016-4C6B-9845-6E23B26B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合格完工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F8829-AD16-44CD-9918-340DE881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52387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113129-ED85-4127-9D01-DA448FB5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FC7DD-C00C-4F61-9427-4DBAD8E1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93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明确纳入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D9997-5FC4-450B-A0F6-C7324F2F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4914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订单与执行快照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成品/部件身份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物料交接、发料与耗用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测试、质量、返工与复测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完工、交接、回执与谱系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CEC2A8-4753-4E70-88AA-3D6591DC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4E5EE6-8F4C-4A49-817C-F6630288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142A5A-089D-4E7C-B1AC-81D2D104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明确排除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669096-D75D-44A3-A9E8-46148F71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5105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SMT、回流焊、AOI、ICT 等上游制造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完整 WMS / APS / SPC / OEE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PLC 与设备自动控制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财务总账、采购销售与成本核算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未经授权生成的 MAC / IMEI / 证书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6AE600-193D-4556-9A89-CA626485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1049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36B27D-5FBA-4717-B262-4F06ECFF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1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rPr>
              <a:t>边界假设：上游 PCBA 已完成测试；真实起点、包装责任和仓储交接需现场确认。</a:t>
            </a:r>
          </a:p>
        </p:txBody>
      </p:sp>
    </p:spTree>
    <p:extLst>
      <p:ext uri="{BB962C8B-B14F-4D97-AF65-F5344CB8AC3E}">
        <p14:creationId xmlns:p14="http://schemas.microsoft.com/office/powerpoint/2010/main" val="1133261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C1AC2E-AEC6-43F3-A9EC-AB3A4D14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FAE80-DF40-4AEB-92B1-434BFD1C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5CF2E-6A07-499F-87E8-91479C97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05 建设原则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71A37-E0F7-431D-97FA-34C119F2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ERP 负责计划与财务，MES 负责执行与制造事实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FFEE6-23EB-49AE-81DB-1E907376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9E3E7-1F97-4017-A57F-BD17FD59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F83E9-0C6D-4DF7-8E7F-C83304DE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C433E-5449-4B22-9B80-50D6D7D9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3E8C9-1EA3-4489-818B-E9E30EEB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2742D-6A00-43BE-8945-9A1284AC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34290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E66DD-0010-478B-978B-8A02417D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02AD0-00BE-41C1-9B03-735CEBBA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权威分工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C371F-FA5C-4109-8269-CE5CD615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ERP：产品、物料、订单、计划与财务结果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MES：执行规则、单件状态与制造事件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458E4-8D64-48C6-B175-9B8F6B9D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34290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95A31-C3D0-4988-8390-69634F87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FAD8E-A932-4BB2-BAA1-EADCF3BD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430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02 快照冻结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40380-BC00-45D5-A289-F1DF56BB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6690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订单下达时固化 BOM、路线、追溯与测试规则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0A416-EA5D-4888-A2F5-22F5DDBA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34290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F6E0A-B207-4F54-89F7-198527C1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85663-CF6E-4955-8D70-49C306A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430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03 历史不可覆盖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6508A8-8DE5-46BA-8A15-5C43EE15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更正通过冲正、解除和新事件表达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554CC-5FB7-4C8C-A705-453AF9BA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34290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8DA17-E60D-4BE5-9DC8-EE13891F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0E8C22-8117-47B0-9CBE-04F158CA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04 事务内聚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36F0AC-BEA7-4054-A166-13B857FB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规则校验、状态、事件与 Outbox 同事务提交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C05C3-CD31-44DE-B7EB-565566C2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34290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496EFA-0D6D-4FF5-90BB-FAF2F0C3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EBB11-83D7-4A24-84E5-0C667984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05 职责分离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712BF6-B4D3-4343-A592-2E8948F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6715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计划、工艺、质量、操作与系统管理权限不互替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36349C-750B-4DD3-9275-7D076B68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4290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708511-EB86-4BA8-B6ED-D6A0F825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0F9BBC-9DD6-436E-8047-6A88AF74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06 先纵向闭环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11E7D9-49E9-4F52-9E14-AB8E11A5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67150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先打通一个 SN，再扩展模块与页面</a:t>
            </a:r>
          </a:p>
        </p:txBody>
      </p:sp>
    </p:spTree>
    <p:extLst>
      <p:ext uri="{BB962C8B-B14F-4D97-AF65-F5344CB8AC3E}">
        <p14:creationId xmlns:p14="http://schemas.microsoft.com/office/powerpoint/2010/main" val="1134925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FF8E2B-1F0D-4149-BB25-49C91864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EA3A7-3521-46F5-BB02-D874FA8F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F106E-10DD-4A22-BF1F-C1AD1822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06 业务主路径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D119E-E5DF-428A-8558-025F0BCA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一条正常路径，三类异常必须在同一模型闭环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931CF-4247-423E-957A-4F3A2334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29C0D-B9C6-4A09-9382-4A3DA491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56B28-1904-4C58-BC13-7A9D20F7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CA48D-C97E-443B-979D-FDA3D85C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21827-4507-4132-91FE-D8205F4A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C71DB-1E2D-4DCE-9174-0593C2EA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676400" cy="723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58D39-80A7-487B-901F-E98FA36F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订单入站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28673-22B8-4177-A46B-35C16779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81150"/>
            <a:ext cx="1676400" cy="723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6D8CD-F429-4BA4-8614-17AE832F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下达快照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E8BFE-5C3A-472A-913E-14004E78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1676400" cy="723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36201-F1F4-48D0-B249-DEEAEB51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START_WIP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72EF5-51C6-4E2F-BD10-CD981E44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1676400" cy="723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D4B4C-8BC4-445C-8BB2-116FF090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装配/固件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022D4-E886-49A5-80CD-3F8A069D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1676400" cy="723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2114D-6736-4167-BAD5-AAF26959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测试/终检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90362-704C-47B0-A884-CA21FD62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81150"/>
            <a:ext cx="1676400" cy="723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58101-371A-40DA-AD09-DE1133E9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完工交接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9AA53-0FF5-4702-B603-45F4B3E5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异常不是旁路；异常决定事实链是否可信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61AE3-1665-4FAB-BF3B-AB7E525F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342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0895C0-6A23-4237-B05D-396A3A32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92E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68527-94C1-4CE5-A5AE-E63A3605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测试失败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F54D3-42E4-4679-8BD5-8942FA2D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3105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保留失败测量 → 创建不合格 → 质量保留 → 处置 → 返工/复测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D154FB-D876-49D6-B368-BFE3C384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57550"/>
            <a:ext cx="342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7B668-78A8-46E8-898A-C0C6386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57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CFF72-FB40-4000-9B3C-C6335972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rPr>
              <a:t>报废与短结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E97A79-7012-4F30-BA67-109F0C83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3105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报废事件与物料冲正 → 订单数量重新平衡 → 未投产数才允许关闭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0782FF-AA9B-4C85-87CB-0C1D6A5B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342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D213DC-B2E2-4790-9DEF-396097ED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75144A-F675-4F5C-9339-6C71E47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集成失败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E5F348-9A8A-4AD6-9141-EFBAE4B0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95700"/>
            <a:ext cx="3105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Outbox 失败 → 重试/死信 → 对方回执 → 对账完成前订单不能关闭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8F81AE-4AD2-482F-A3FB-365534D7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门禁：任何质量保留、缺失必测项或未对账回执，均阻止关闭。</a:t>
            </a:r>
          </a:p>
        </p:txBody>
      </p:sp>
    </p:spTree>
    <p:extLst>
      <p:ext uri="{BB962C8B-B14F-4D97-AF65-F5344CB8AC3E}">
        <p14:creationId xmlns:p14="http://schemas.microsoft.com/office/powerpoint/2010/main" val="1675567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609059-BD90-4249-8AA6-EAD4CA94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E8A80-FB63-49C6-B9C5-7BF27DB4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86CBC-987B-4E44-A827-429B48AE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07 逻辑架构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07F68-53D8-4811-A0BF-3F66AB8C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模块按业务责任划分，集成可靠性是独立能力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CA98A-2018-40EF-B032-4B233AD7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FBE10-E893-415E-913E-0EF26F55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E157F-E7A5-4EAC-9D49-2E328D27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D0410-5EE7-482B-B370-DA5A3A87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C58EB-13F6-46BC-8264-97E912AE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CC55C-AC80-4A6D-9F2C-D2F18F10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8968E-89E1-4070-A9E7-719AA523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29138-87D3-47FA-AA8C-57C5839F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08487-C81F-4144-8F8B-ADDC2CDA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00200"/>
            <a:ext cx="893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ERP / WMS / 身份与证书系统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7F33A-CE1C-4AC6-A513-9FE6A116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10490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9CA2C-89DF-4B34-8F30-4133E07F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82F47-7154-4980-8A18-B6451129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集成边界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55D44-DFA4-456A-8BEC-92511D8E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67000"/>
            <a:ext cx="893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Inbox · 适配器 · Outbox · 回执 · 对账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9AA1A-A239-458B-AFCC-5F2281B5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10490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F0555-B9A5-4BB5-BEB9-35A332E2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AA578-9C3B-4E21-BC6A-6AFEBCF4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MES 领域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5CC86-394A-4FFA-B53C-99702DCB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893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8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ProductionOrders · Execution · Identity · Materials · FirmwareAndTests · Quality · Completion · Genealogy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AA4D4-ED7A-45DC-9F79-AA63B711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10490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8BA8D5-B215-4FC4-9DFC-D46E9EED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99EB3F-BC5D-4E7D-9FF9-16F575D5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数据与运行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73096F-12D2-489E-B906-166FF2A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00600"/>
            <a:ext cx="893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SQL Server 当前状态 + 只追加制造事件 · 文件存储 · 后台任务 · 审计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465081-5695-4137-97C7-868A8442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写模型：关系型当前状态便于任务执行；事件：只追加历史便于追溯、审计和解释。</a:t>
            </a:r>
          </a:p>
        </p:txBody>
      </p:sp>
    </p:spTree>
    <p:extLst>
      <p:ext uri="{BB962C8B-B14F-4D97-AF65-F5344CB8AC3E}">
        <p14:creationId xmlns:p14="http://schemas.microsoft.com/office/powerpoint/2010/main" val="13444395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BB50F-7E16-4483-8AAA-C09B7F50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77E28-8999-43FC-908E-C61E22B9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F85CB-6813-4931-AACA-5B9BF9E6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08 执行快照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0D8DD-D255-43C7-81BA-FA2A0C2C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订单下达后，执行依据必须与模板版本解耦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E0D00-538B-4285-BDA6-04A83DA9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BA9E5-7067-4393-95A8-7F648E0D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25AEA-5F20-4CF0-B461-0125C51E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81689-78AC-43B2-A799-B72A787E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313B7-1EF3-4953-BF35-6C667472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2DD76-9512-43FA-ACC2-F3207F43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下达前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32116-8E36-448A-A71C-E20CA3D5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5242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1FDF5-8665-4B03-8BC6-31666820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可变模板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179DF-8209-4185-89EE-3D3F624D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32004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产品版本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BOM 与单位用量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工艺路线与工位能力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身份/追溯策略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固件与测试规范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完工门禁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26335-00EA-4275-8F7A-9AEAF0B7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1428750" cy="857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097F5-C0FA-4B5B-A942-74D325C8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CF356-07AD-4257-A898-33CAD926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28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下达后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1056A-7F00-4FE7-B8AA-3CDD4E6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4292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15462-DE48-4344-B07F-939AF4D8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797E4-7B2F-4207-B17D-AC251EE8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不可变执行快照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7C48A-0294-492B-9F00-DA5D51E4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054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快照包含完整业务值和批准版本；后续模板变更不回写已投产 SN。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订单受控变更必须形成提案、影响分析和批准记录。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A045E-8669-4BF3-B965-25B357D8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1049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0D116-B2BC-4A57-92EA-446F6C4B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 SN 的执行依据必须可以脱离当前模板独立还原。</a:t>
            </a:r>
          </a:p>
        </p:txBody>
      </p:sp>
    </p:spTree>
    <p:extLst>
      <p:ext uri="{BB962C8B-B14F-4D97-AF65-F5344CB8AC3E}">
        <p14:creationId xmlns:p14="http://schemas.microsoft.com/office/powerpoint/2010/main" val="523039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D4DE22-7270-46C2-BB50-846BCA7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2FE17-7175-4970-B158-59B56599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B427D-BF24-407F-B232-D18CEF89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09 全过程谱系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70BD0-10CF-410C-B9F1-E831F256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成品 SN 是查询入口，制造事件是可解释证据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41924-EF27-4A49-A258-4B10B312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04456-0D9A-4086-9281-35FDCB81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4E090-BDD6-47CF-BE18-8F4FB64A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B0D18-68DF-42C7-AE65-80E11F6B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03506-1F1D-45F7-BA60-E94C9F37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9CE45-CDE2-4A86-A3E7-4D1EAF4B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8575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1B4FF-F3A5-4268-AA56-3E29A459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33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成品 SN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72CA6-CB3F-4AA4-B663-9C92A791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RTR-000184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581D9-37EB-49FC-9B8F-89F790DE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3E8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F9E43-B278-45C4-8791-3BFAA964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3E8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2C0EE-6318-4076-A610-2EF8384B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3E8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D58F4-B90C-425A-8696-E259164C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863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3E8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3DA01-25EF-4221-89DB-9CFE3E6B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3429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7F5A2-82B6-40D5-8C20-7128BB08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CC4CA-6D47-473C-97D6-2011EFC2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订单与快照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F71FE-4190-4657-AC37-B866E6AF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订单、版本、路线、规则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29EDBE-7509-45E3-82C8-064AACD1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3429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6B08F-4D7E-4F69-9CA0-C6D8FB51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A78F4-D059-4326-AEA5-E5DC2FB1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物料谱系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25F0C-FBAC-4430-83A0-77CAA7A3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部件 SN / Lot / 数量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FEB37-F6AB-4E1C-9991-E285572D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09700"/>
            <a:ext cx="3429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B176D8-9A51-40DA-8034-569C3037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097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7602BD-F481-4BF9-8865-400376DA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240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固件配置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0B4A5-B09F-4A15-97E1-1423A266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版本、校验值、设备、操作者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401B92-2DCA-472B-A5AE-096A8E0C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3429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BEFF40-6DBA-4275-BC02-F916B73A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465B9A-6162-445C-87D4-E666F159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测试质量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CA794D-00B0-42BF-8AC9-35C7257D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逐项测量、失败、处置、复测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6522E4-5386-4C88-943C-949AF951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3429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EFD97B-3B18-4045-8B6C-5D6A7294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18A8CB-A30F-4B1E-9694-82653B24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768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制造事件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3C6ECB-A68A-4596-AED6-B4B85901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006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工厂、产线、工位、时间、主体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217CAB-DCBA-4338-BC05-91FAC0FA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3429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9FC3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0DB2E6-4A01-41E8-9E6D-8B32370B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D72139-B6A1-43E2-BD5A-A9E4C7C6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768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交接回执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E6A07F-038D-425E-B4E3-F1972D1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006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仓储接收、ERP 入账、对账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039A13-D36B-4728-AEAA-409F2FEF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查询结果必须展示更正、冲正、解除和复测前后关系，而不是只显示最后状态。</a:t>
            </a:r>
          </a:p>
        </p:txBody>
      </p:sp>
    </p:spTree>
    <p:extLst>
      <p:ext uri="{BB962C8B-B14F-4D97-AF65-F5344CB8AC3E}">
        <p14:creationId xmlns:p14="http://schemas.microsoft.com/office/powerpoint/2010/main" val="8294026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71CCC2-25E0-45A8-9257-EC5751FB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86334-9F6B-4D43-9E7E-FDB6C1A1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36677-AF75-4691-8D4E-9CCB2A77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10 测试与质量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23ADD-B29F-4128-A929-A10F2BFD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失败记录永不覆盖，放行权与执行权必须分离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D07FE-2650-4CD8-B02D-57380503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1D6C1-F8B0-42C7-A0F5-C79DD01C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56A01-7B28-46C4-977C-55C936F0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0BE07-3870-4B49-AB46-6CB85AB0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C890C-8773-4A3B-A9BD-4DA14D74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29CA5-2FA0-4F4A-BE96-D600B42C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67640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71A03-BD21-4C8C-A082-DE6832EF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测试失败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AFCAC-1F70-4038-B042-6B329DD4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95450"/>
            <a:ext cx="167640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41FBF-4E15-4532-992D-B9B042CB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创建不合格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9B79E-C6B8-45A2-AD64-CCB67720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7BD2A-7AF5-4790-B86D-E9D6881F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050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质量保留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97FB1-00E2-4A86-B7C7-63894951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167640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A3E83-6700-4E9C-B340-024868CC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处置决定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491EF-5C65-481F-9671-F65F2F92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167640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F96FF-CAA6-4225-9EAC-0BCE2394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返工执行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75314-D3E5-48CB-868C-8237BC1B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95450"/>
            <a:ext cx="1676400" cy="781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DCE53-B8EE-45DD-98D8-3B3AC29E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050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复测通过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BA647-5615-4A55-A700-16B0D606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20936-F6B3-49D8-9D6C-1B1C67CB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8CA6D-5867-490B-8AB3-B0FE43DE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TestRun / Measurement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341842-A989-4FB4-9ED7-5370517A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31051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每次测试执行独立；逐项测量、阈值、单位、原始报告引用和总体结论全部保留。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00A69-ED3A-4187-8FA4-7722AD3E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DB9733-CF9D-4487-A925-3B7DA3C8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92E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3887E-1960-4DAB-8807-D1F84352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623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Nonconformance / Hold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AC6125-A516-471A-9FB5-9E5DDE1B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31051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不合格记录描述事实；质量保留阻止继续完工，不等于处置结论。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12E12-0B4A-4F07-BE3B-1E415C23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429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E944BC-8797-4FA5-8C85-0E87922D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A814E0-4CB9-4AFE-B081-CEC9536C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623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Disposition / Rework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7CA601-98DA-4181-BED8-F921B724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31051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授权质量人员决定返工、让步或报废；操作工只能执行已批准路线。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A08755-239D-451F-8C6D-1E4EE0F9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768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禁止：把失败改成通过、删除原始测量、由管理员替代质量人员放行。</a:t>
            </a:r>
          </a:p>
        </p:txBody>
      </p:sp>
    </p:spTree>
    <p:extLst>
      <p:ext uri="{BB962C8B-B14F-4D97-AF65-F5344CB8AC3E}">
        <p14:creationId xmlns:p14="http://schemas.microsoft.com/office/powerpoint/2010/main" val="12714999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637D45-44AB-4A7F-A06D-F939AB8A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54306-E88C-42DE-862F-688D40A1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B94D0-AABD-4003-BBB7-EE573370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11 物料执行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F7B67-3627-495C-9CA5-C4AD2921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交接、发料和耗用是三件不同的业务事实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7609B-CE97-4994-BFD1-EDB7FD61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DBBCB-D044-4A63-8513-ED4FEF0F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BB1B2-058B-4084-B67E-F6F74D6B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AF4FE-7E85-44CD-9F04-3EB9F21D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32948-3D90-4171-876D-DC371F27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DEE2F-F4BD-4DA8-9238-2535D974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F8565-9BFD-42BA-A65B-19D40252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01 物料交接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CC150-08CD-4B08-A29E-7F782C4D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仓储把责任和数量交给线边；不等于已发给订单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4025A-E1C9-478C-A36E-50ACA698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110490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E18C4-2AFD-48B3-9C9C-600F6AE0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rPr>
              <a:t>02 工单发料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9A2A1-3231-4759-8E36-9BFCA76B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146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从线边可用量分配给订单；不等于已装到产品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93D1D-0AAA-458E-8A55-3F4ABE8F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10490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875B9-0AF9-4EAD-BE07-2BDE0970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03 实际耗用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ED0E1-673C-435A-B590-1FC30593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148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在指定工序绑定到成品 SN、Lot 或数量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9A849-DB5D-4B93-B5BD-1E6C36C8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52387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B1958-3E5A-47CD-BA5D-9F4DC779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837EB-0003-44AF-A0BE-1CD352F3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493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事务账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F4977-B40E-4B45-910A-2515766F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491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TransferIn · IssueToOrder · Consume · Return · Reverse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23AB7-23DC-4D56-9FB3-C8E09612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5429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A9D2C-7BEF-45C1-BDF5-C148E487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889221-1B67-4762-A773-21CED577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48300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rPr>
              <a:t>追溯粒度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E953B-4A99-4458-A688-1D3C3D3E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72150"/>
            <a:ext cx="510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关键件按 SN，批次件按 Lot，一般件按数量</a:t>
            </a:r>
          </a:p>
        </p:txBody>
      </p:sp>
    </p:spTree>
    <p:extLst>
      <p:ext uri="{BB962C8B-B14F-4D97-AF65-F5344CB8AC3E}">
        <p14:creationId xmlns:p14="http://schemas.microsoft.com/office/powerpoint/2010/main" val="1863538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968957-E54C-4281-A00C-3B692477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E1564-6645-4586-9ED0-871358AE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40CB1-2514-4D6D-BAF0-44F53603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12 企业集成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2F1EA-2952-4753-8F5B-BDA1C383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Inbox 保证入站幂等，Outbox 保证出站可恢复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56FBF-634D-4C70-99B3-9DE74E14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331B5-61BB-4D32-A2F1-F0F148D5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99859-38E0-4292-B564-231DD6DB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4EAD8-A752-4F79-A111-53312C60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0FE9D-F533-46B2-A852-5A36D65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AB736-3224-41D8-A1B7-D558929D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8D549-1125-4B45-8B69-FB3C08FB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ERP/WMS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B09DC-0A0B-42C8-8D07-622EBBA9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A56BC-51FE-484A-90CA-7E9DE66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9545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473EC-79B5-45C5-859E-D4E9C34E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431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Inbox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AC305-CE2D-46A8-92A1-DB0D3362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2D480-2720-4C81-8098-A3C8A5DE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9545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0BA69-1416-4B48-9A7F-9C47CA85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431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领域事务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8966B-5CC1-46B1-9D98-E1CD1753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EDEEF-1619-406C-9211-AD0353FB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9545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04C57-3CE8-4511-9B78-E7431D4A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431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Outbox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A6D4A-5E1E-40DC-82D2-DE6E49C0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812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03BB3-C408-4237-883C-8F64C2CE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95450"/>
            <a:ext cx="18097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38789-7E6C-4A0C-8BB3-AF5A6358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431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外部回执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3E2CC-1739-4520-A8A6-E88FE409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34290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53485A-5F8D-42C3-AFA5-5CA81E31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851B88-E392-4739-B068-D1E2AD56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入站契约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DC6DB-E807-464B-B5D6-9301E31D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31051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来源系统 + MessageId 唯一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原始载荷校验与保留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重复消息不重复建单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BB31D1-4558-4C66-B45E-1D385CCD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34290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959AEA-E80C-4250-98FB-B312A186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06DBA4-A038-45C4-96F7-3A4A338B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出站状态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D9EE58-CC6D-422C-9D90-2ABF1843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31051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Pending → Processing → Sent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Failed → 重试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DeadLetter → 人工处理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F6C9A-5B80-41A6-B863-48C0DECF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24200"/>
            <a:ext cx="34290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55A789-68E9-4C69-8580-41A022C8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242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73C121-C6F5-43B8-8D3C-899DBE99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对账门禁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799F9D-9A76-4707-BACB-7CF1BDE8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31051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MES 完工、仓储接收、ERP 入账分开表达；最终关闭前必须对账。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1AD627-F80E-43E3-B98E-C3FC368F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191EB8-6D5F-416F-81CA-B7DCB78C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rPr>
              <a:t>模拟 ERP 必须走正式契约；禁止直接写业务表制造“成功”。</a:t>
            </a:r>
          </a:p>
        </p:txBody>
      </p:sp>
    </p:spTree>
    <p:extLst>
      <p:ext uri="{BB962C8B-B14F-4D97-AF65-F5344CB8AC3E}">
        <p14:creationId xmlns:p14="http://schemas.microsoft.com/office/powerpoint/2010/main" val="19310726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5DA9B9-D846-4F29-B699-CDBFBAD9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A95FB-771F-4E9B-81DE-A06DED2A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A2CAD-F8B1-4E03-BE24-37071B54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13 角色与权限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BDA80-614A-43BB-9ADA-459F6793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组合角色支持兼岗，但关键职责不能互相替代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77882-479C-4271-B28A-86B1A68B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A0586-52D7-4055-85E1-55A769F9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AEB0D-6FCE-4F85-9A3B-44835499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C2FEF-5C80-4BEE-8C49-7CB0B2FF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DD49B-A920-4AAD-983A-4AC0BC04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6742F-47A1-4C37-B312-F21044A1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81EA2-7DC5-446B-93EA-FF27A202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09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允许的核心动作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858A8-2647-472E-A1AA-2696B67E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097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明确禁止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A89ED-26DB-46B5-A8D5-1485245D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BFDB5-B5AB-406F-842D-5AA1D178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计划员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3C3A6-0F62-4D80-8A67-49E163BB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669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接收、下达、暂停、短结订单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62802-C61E-46E2-B158-445E3D0A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66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修改 ERP 权威主数据；批准质量处置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B80CE-1C29-4469-B7A5-51D6441E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B808E-D1D3-4D1C-83D6-FC0CCBA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操作工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8DE72-439A-406D-A342-4E70AF2E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扫码、装配绑定、固件、测试、缺陷报告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E07798-D115-4C92-88AD-6A3CA974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修改测试规范；解除质量保留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557C9-0889-4B77-9365-06B34C6D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5397E-B90D-4743-96CB-1CF2EC16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工艺工程师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C6320-9BF4-4BF4-B6CE-DD20EC7C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批准路线、作业和测试规范版本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4926F7-6C8A-442F-9C5E-8C66233F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直接改已投产 SN 的执行依据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176CF-5CE8-4255-8D5B-1CA25D20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DEB87A-C7A6-4594-96A3-12C91C9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质量工程师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2A01B-9F5B-487F-A1C7-387C1CE2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10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不合格评审、处置、返工/让步/报废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E15C7-A799-4CE8-BE57-D9871A54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覆盖原始测试；无依据放行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EC1EA8-EBA0-43AD-84DD-7FFEB066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FBFD86-E5AD-4A8F-A8E3-C28AD064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系统管理员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59E645-6CC4-4E20-85EC-B3AB9EAB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91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账户、组合角色和技术配置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453F70-53EC-4167-A839-B24CBC25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91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天然拥有全部业务审批权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BCC5A3-0B85-4F05-A8CD-D2B0C3E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审计记录必须回答：谁、何时、对什么对象、做了什么、为什么、关联哪条业务链。</a:t>
            </a:r>
          </a:p>
        </p:txBody>
      </p:sp>
    </p:spTree>
    <p:extLst>
      <p:ext uri="{BB962C8B-B14F-4D97-AF65-F5344CB8AC3E}">
        <p14:creationId xmlns:p14="http://schemas.microsoft.com/office/powerpoint/2010/main" val="1524512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AA6B5C-F802-4F00-83F2-FC8EB616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7B674-7577-4641-BFA8-0EFA3CF9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02816-84C8-4B80-BDFC-36790BF4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14 部署与运维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FA4A1-D74C-4B28-8C06-520315A1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私有化可交付的底线，是能安全启动、升级并恢复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CA6D1-174C-4C28-98C2-7E8803FB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4C067-841F-41EA-B0C8-6D40FE44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BAB63-1404-48BF-8AD4-1882A56E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9AF3F-8905-42BD-B519-A1A879BB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F82C0-D87C-415D-93F0-54655002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67924-FDFF-434E-8ED8-EB9BE61F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候选部署拓扑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14619-3367-4670-847B-3ED98EC6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476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1DB6B-C6D8-4DB5-B3AA-E1A5ABFC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3C519-CB28-48DA-91DB-4ECB6305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Nginx / HTTPS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74D7C-65E5-4489-9A41-662A793D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唯一网络入口；证书与反向代理策略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1051D-2AAD-4C85-B6F3-633CB648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476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47AB7-713B-4686-89CC-28B3707E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6C9BD-FE34-45CB-BE37-5C3B767B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ASP.NET Core API / 后台任务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C30F6-CFF6-4C99-B138-A56D023A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内网容器；健康检查；Outbox、重试与对账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4FBEB-7257-4065-8C22-9BC5657E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476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97A915-A151-4EE6-9B17-76934837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9300E-290F-41FD-A538-13AA47E9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SQL Server / 文件存储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7D752-033D-40BC-9382-FC853D2F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最小权限账户；数据库只存校验值和引用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BB5F5-16FB-4665-BA3B-8E404BF0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9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生产运行门禁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53FC5-B2AC-473F-908C-8F3992DD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429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Production 环境不允许示例密钥和默认账户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正式启动不得 EnsureCreated 或自动删库/装载种子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EF Migration 新装、升级与带数据回归通过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备份恢复演练达到候选 RPO 24h / RTO 4h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结构化日志、关联 ID、健康检查与容量基线可查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7"/>
              </a:spcAft>
              <a:buNone/>
              <a:def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升级前备份；应用可回滚，数据恢复走验证流程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E3E9B-9CEE-4095-B367-2473588C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4292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92711B-0781-4029-A31E-D6305FBC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4350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6300"/>
                </a:solidFill>
                <a:latin typeface="Microsoft YaHei"/>
                <a:ea typeface="Microsoft YaHei"/>
                <a:cs typeface="Microsoft YaHei"/>
              </a:rPr>
              <a:t>RPO/RTO 只是试点候选目标，必须由客户连续性要求确认。</a:t>
            </a:r>
          </a:p>
        </p:txBody>
      </p:sp>
    </p:spTree>
    <p:extLst>
      <p:ext uri="{BB962C8B-B14F-4D97-AF65-F5344CB8AC3E}">
        <p14:creationId xmlns:p14="http://schemas.microsoft.com/office/powerpoint/2010/main" val="4346672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A67E7B-7F49-47EE-BAE3-484DDE6E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25AF7-6830-401C-8C07-F6445CB9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E37C6-8731-4B00-A8BA-D1F55AE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15 实施路线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C2CCA-905F-47CD-B891-6900C31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5–6 周救援按风险递减推进，不推倒重写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721FA-0C1C-4928-98DF-BF4D3E62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B9DAA-E866-400E-942D-FAA25860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FCC61-75C6-41C9-AC36-7C1A7ABC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8C5EE-299D-4FD0-A94A-9E40DC6F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4F055-AB15-484C-A393-D103F8F5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A9280-4965-4156-B123-5D74A4F6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EEF7D-2E36-431D-8FE8-24FC3CE9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8DA05-BB71-468E-B3F4-B0F22CB7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EC208-F31C-4FE0-A3D1-31B21F66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6F012-4C8D-4300-829B-1D6615C7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追踪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88EA4-902B-4A8F-94AC-F1EE6F1C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5EA32-ED3A-4A7D-AB19-85087CD5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R1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0E129-E1BC-4677-B70D-0425C7CE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9EEE5-6954-444F-8A2B-1D24A05A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92E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B42DC-5987-406E-A5F1-67DFB462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迁移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SQL Server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18553-1E54-4EEE-8384-0BF82D66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9CB3B-5565-4FFE-BEB6-F20B4643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rPr>
              <a:t>R2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E009F9-760F-48A5-99E1-256F4E92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执行内核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08AD9-B209-4336-8481-7FAB91DC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26D47-7D80-48C9-BA3B-1AA300DA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快照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身份物料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C4CCD1-DC3E-4037-8E65-80CC06D1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A3750C-350E-4AAB-9D8C-FC0EECA5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rPr>
              <a:t>R3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96AAEB-72DC-45A5-BB22-B0002C93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质量谱系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39666C-DA69-42A1-8012-AA36A7B9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C55590-2909-4DFB-9F33-CC63EF76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追溯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9A852D-2127-4CAA-A7DE-83EEA749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D8B0AE-AE8B-4A24-A461-4686C935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R4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8356A0-8FFB-4CED-A379-753CA3DD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集成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B7A74C-302D-451D-B2DF-DE54BA21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40262A-1EBC-4693-9B99-E8989C65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Inbox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Outbox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对账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FC43FE-C9F7-412D-BE27-B9C00D1F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204812-1293-4BEF-BC4D-91118850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R5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73489E-ACC3-4986-8D4B-D9D6AE01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一线 UI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789B7D-0ED9-48A7-B272-FD3273AE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93AD55-2E46-45FF-AB3E-06817C37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工位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质量追溯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C4B410-A025-4C42-B834-8DDC970D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19250"/>
            <a:ext cx="1390650" cy="30670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8FA883-E52F-4201-B65A-9E91DDA0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097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F39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39800"/>
                </a:solidFill>
                <a:latin typeface="Microsoft YaHei"/>
                <a:ea typeface="Microsoft YaHei"/>
                <a:cs typeface="Microsoft YaHei"/>
              </a:rPr>
              <a:t>R6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0E015E-2DA9-419C-88FF-FF85DD02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431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交付证据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9FE6E9-1107-4BCC-84D1-712B9B6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781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756CC9-568D-4C44-810E-64715C30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48000"/>
            <a:ext cx="1085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A499F5-F5F4-46F5-8265-4D9BB7FB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108775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CED97E-1E61-43F9-9867-1A5320AE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1045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每个阶段都有退出条件；R5 前冻结非核心 UI，避免再次用页面数量掩盖领域缺口。</a:t>
            </a:r>
          </a:p>
        </p:txBody>
      </p:sp>
    </p:spTree>
    <p:extLst>
      <p:ext uri="{BB962C8B-B14F-4D97-AF65-F5344CB8AC3E}">
        <p14:creationId xmlns:p14="http://schemas.microsoft.com/office/powerpoint/2010/main" val="479195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88C04-B7EF-4A07-BAEE-B87061D0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AD193-704E-44C8-84C1-BA7A0175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FDDCA-0DD9-473E-BAD6-CD24E836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16 可信度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BAADA-119F-4461-8882-1640DB6A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把“做出来”与“被真实工厂验证”分成五个等级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1BC30-DB2F-4601-BD17-AFAB899A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8EFD8-EFF0-4466-AE7D-03740F6D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2BE15-17DD-4617-A0A8-A25929BA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FC8EE-C92E-492E-92F2-01A9F9BD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BE7FA-EDF0-489C-8634-5ED80A44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4DBC4-0BB7-4C3C-98C8-ADF1D527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200025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40B80-C794-42DB-B2A9-3B579549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L0 未验证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B07D5-EF9C-486D-995F-EBDC74DE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有想法或文档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36B74-9B48-4F58-A100-FD90F36E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95700"/>
            <a:ext cx="200025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09FE4-5315-4271-ABFE-353DFC6D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671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6FD9"/>
                </a:solidFill>
                <a:latin typeface="Microsoft YaHei"/>
                <a:ea typeface="Microsoft YaHei"/>
                <a:cs typeface="Microsoft YaHei"/>
              </a:rPr>
              <a:t>L1 已实现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1B40D-C85A-4DF0-ABFD-CE6C24F8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86250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代码与配置存在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83528-2AC0-43EB-B292-E2843A7A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2000250" cy="23622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FCC52-82D4-4245-BC3E-273F146F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76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7D46"/>
                </a:solidFill>
                <a:latin typeface="Microsoft YaHei"/>
                <a:ea typeface="Microsoft YaHei"/>
                <a:cs typeface="Microsoft YaHei"/>
              </a:rPr>
              <a:t>L2 技术验证通过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8C250-DA4A-47EA-BF0F-9D6C01FF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95700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自动化、SQL Server、浏览器、部署证据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4EFF3-030C-47EB-B4B0-6B5C0AC3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200025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9ED57-0AB6-46C9-B1DE-01C5CFE9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860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9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9800"/>
                </a:solidFill>
                <a:latin typeface="Microsoft YaHei"/>
                <a:ea typeface="Microsoft YaHei"/>
                <a:cs typeface="Microsoft YaHei"/>
              </a:rPr>
              <a:t>L3 从业者评审通过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7B3B7-B122-490C-AE8C-3040DED3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工艺/质量/计划专业人员评审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AFAF8-39B3-4C21-958B-8C932FC1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24050"/>
            <a:ext cx="2000250" cy="35433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9525">
            <a:solidFill>
              <a:srgbClr val="C839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1C5CA-C229-4F41-A903-2E343F48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955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392E"/>
                </a:solidFill>
                <a:latin typeface="Microsoft YaHei"/>
                <a:ea typeface="Microsoft YaHei"/>
                <a:cs typeface="Microsoft YaHei"/>
              </a:rPr>
              <a:t>L4 真实现场验证通过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5366F-670D-4DC7-BD09-F05ECBEA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14600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真实工厂、真实数据、真实班次签字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F038F-994C-44EB-A6B8-7A7D1B42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0858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4DCC50-0B9D-4072-8DB3-3544716B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977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当前目标：先达到 L2；在没有评审纪要和现场签字前，不跨级表述。</a:t>
            </a:r>
          </a:p>
        </p:txBody>
      </p:sp>
    </p:spTree>
    <p:extLst>
      <p:ext uri="{BB962C8B-B14F-4D97-AF65-F5344CB8AC3E}">
        <p14:creationId xmlns:p14="http://schemas.microsoft.com/office/powerpoint/2010/main" val="10754327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7CC26C-9DC2-4EDD-B50D-C106009A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5B"/>
          </a:solidFill>
          <a:ln xmlns:a="http://schemas.openxmlformats.org/drawingml/2006/main" w="9525">
            <a:solidFill>
              <a:srgbClr val="0F2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58C3F-B8AB-497C-A8D9-F038873C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DA3E7-828C-4078-8381-81612A93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17 待澄清与下一步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553E2-688B-43B3-B264-0E3417C1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进入工作坊前，先把会改变方案的十二个问题摆出来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8EBE2-9F44-4AF0-96D2-85C9732A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C0A6F-4139-4D41-96CB-1EA2FCBE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6BE0E-D61F-4367-9A19-9FA84B0E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08D87-1961-48E1-9913-F5EA94B3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工业路由器装配 MES · 试点候选方案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36C32-0C0D-42BC-90FB-F496BE71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17114-BADA-4898-A826-04E36DDB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715000" cy="4191000"/>
          </a:xfrm>
          <a:prstGeom xmlns:a="http://schemas.openxmlformats.org/drawingml/2006/main" prst="roundRect">
            <a:avLst>
              <a:gd name="adj" fmla="val 136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72916-F714-450E-9622-B7723FDA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762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2"/>
          </a:solidFill>
          <a:ln xmlns:a="http://schemas.openxmlformats.org/drawingml/2006/main" w="9525">
            <a:solidFill>
              <a:srgbClr val="5A66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69B08-CA30-4262-9CEE-E34180F2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六类关键澄清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1794B-EDE4-4969-91C6-2E7E73B3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53911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01 真实装配路线、返工点与包装责任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02 SN、MAC、证书和标签的分配来源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03 哪些物料按 SN、Lot 或数量追溯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04 测试项目、阈值、设备与原始报告格式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05 ERP 产品、版本、接口与单据类型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06 验收人、试运行周期与签收标准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C717E-661F-450B-ACD7-5A9114D1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建议的三步验证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2FAAF-0ACB-4A0E-A6C6-8404CE7E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48577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CF57B-D1F4-40F9-AD5F-2A32E25E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485EE-57EB-45A8-AEBD-AB55A30D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本周：价值流工作坊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E5190-6A35-4084-B4FF-37CACA68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确认范围、主路线、异常、责任和现场证据。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44E1B-CC91-476F-98E4-AE6BEED0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8577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6F3EA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1DBE6-FCB5-41A5-9E9F-C5AC11E1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6"/>
          </a:solidFill>
          <a:ln xmlns:a="http://schemas.openxmlformats.org/drawingml/2006/main" w="9525">
            <a:solidFill>
              <a:srgbClr val="2E7D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DA583-B815-45EE-B9B2-B8474165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623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随后：样例数据与接口验证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4AE4E-3C87-40DE-AAC5-46891838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861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用真实编码、样例报文、错误码和技术账户验证契约。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A8C69-4FE5-4904-9EE3-3E1D2AAF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0050"/>
            <a:ext cx="48577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DF3E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A6DB7-C7B4-4625-B2ED-21F2B4CE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005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0F10A5-98CC-4A5E-B55D-435AE163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243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2B5B"/>
                </a:solidFill>
                <a:latin typeface="Microsoft YaHei"/>
                <a:ea typeface="Microsoft YaHei"/>
                <a:cs typeface="Microsoft YaHei"/>
              </a:rPr>
              <a:t>通过后：蓝图与估算基线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DB1C3C-CE00-4F25-A499-C7E5FF12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482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固化 Fit-Gap、责任、UAT、计划、风险和上线门禁。</a:t>
            </a:r>
          </a:p>
        </p:txBody>
      </p:sp>
    </p:spTree>
    <p:extLst>
      <p:ext uri="{BB962C8B-B14F-4D97-AF65-F5344CB8AC3E}">
        <p14:creationId xmlns:p14="http://schemas.microsoft.com/office/powerpoint/2010/main" val="16909235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2B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162FC-1C27-483F-8381-DAF159CC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D9"/>
          </a:solidFill>
          <a:ln xmlns:a="http://schemas.openxmlformats.org/drawingml/2006/main" w="9525">
            <a:solidFill>
              <a:srgbClr val="1E6FD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8F57D-4722-4B36-8706-B37C7F84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800"/>
          </a:solidFill>
          <a:ln xmlns:a="http://schemas.openxmlformats.org/drawingml/2006/main" w="9525">
            <a:solidFill>
              <a:srgbClr val="F398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85CDF-1D8E-47EF-8A6F-362F0DDC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先用一条可信事实链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08094-A7A0-4916-B71F-B7BD884F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证明 MES 试点价值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0849C-D928-405F-9EA2-E095D7B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订单与快照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31197-7D23-4EE1-BB65-3EA27551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制造事件与谱系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43946-AE56-4476-95E3-15D1BE26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质量与回执闭环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8C034-5C5F-4E24-BCC2-3FCFC8D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建议下一步：现场价值流工作坊 + 样例数据/接口验证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DEE82-3F3E-4557-9646-F550AA09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高级售前工程师  李先生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FC981-2075-4528-87F3-39EF270C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29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C3E8"/>
                </a:solidFill>
                <a:latin typeface="Microsoft YaHei"/>
                <a:ea typeface="Microsoft YaHei"/>
                <a:cs typeface="Microsoft YaHei"/>
              </a:rPr>
              <a:t>候选方案 0.1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FD088-2091-4EFD-BA29-B44941EF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4102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912081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Office PowerPoint</ap:Application>
  <ap:PresentationFormat>On-screen Show (16:9)</ap:PresentationFormat>
  <ap:Slides>19</ap:Slides>
  <ap:Notes>0</ap:Notes>
  <ap:HiddenSlides>0</ap:HiddenSlides>
  <ap:SharedDoc>false</ap:SharedDoc>
  <ap:DocSecurity>0</ap:DocSecurity>
  <ap:TotalTime>165</ap:TotalTime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李先生</dc:creator>
  <cp:lastModifiedBy>李先生</cp:lastModifiedBy>
  <dc:title>工业路由器装配 MES 试点候选方案</dc:title>
  <dcterms:created xsi:type="dcterms:W3CDTF">2026-07-28T07:20:00Z</dcterms:created>
  <dcterms:modified xsi:type="dcterms:W3CDTF">2026-07-29T07:25:00Z</dcterms:modified>
  <dc:subject>以成品 SN 全过程追溯为第一价值的候选方案、实施路线与验证边界</dc:subject>
  <cp:category>MES 方案汇报</cp:category>
  <cp:keywords>MES,工业路由器,单件追溯,项目方案</cp:keywords>
  <cp:revision>7</cp:revision>
</cp:coreProperties>
</file>