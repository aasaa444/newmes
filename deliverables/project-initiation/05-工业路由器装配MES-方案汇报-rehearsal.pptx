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f491f8b6c48ed" /><Relationship Type="http://schemas.openxmlformats.org/officeDocument/2006/relationships/extended-properties" Target="/docProps/app.xml" Id="R6eee3c40f6d34ab6" /><Relationship Type="http://schemas.openxmlformats.org/officeDocument/2006/relationships/officeDocument" Target="/ppt/presentation.xml" Id="R8efc49a41fb745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c9cdd1c4c04924"/>
  </p:sldMasterIdLst>
  <p:notesMasterIdLst>
    <p:notesMasterId xmlns:r="http://schemas.openxmlformats.org/officeDocument/2006/relationships" r:id="Re20adf32ad564905"/>
  </p:notesMasterIdLst>
  <p:sldIdLst>
    <p:sldId xmlns:r="http://schemas.openxmlformats.org/officeDocument/2006/relationships" id="256" r:id="R53f5cb2f2ecd43c6"/>
    <p:sldId xmlns:r="http://schemas.openxmlformats.org/officeDocument/2006/relationships" id="257" r:id="R6b725a01b8e94c80"/>
    <p:sldId xmlns:r="http://schemas.openxmlformats.org/officeDocument/2006/relationships" id="258" r:id="R1eb5d74c40184d48"/>
    <p:sldId xmlns:r="http://schemas.openxmlformats.org/officeDocument/2006/relationships" id="259" r:id="Rf38e05bfc5d840dc"/>
    <p:sldId xmlns:r="http://schemas.openxmlformats.org/officeDocument/2006/relationships" id="260" r:id="R16c2ab92c584419c"/>
    <p:sldId xmlns:r="http://schemas.openxmlformats.org/officeDocument/2006/relationships" id="261" r:id="Rc4d4a43a27db4980"/>
    <p:sldId xmlns:r="http://schemas.openxmlformats.org/officeDocument/2006/relationships" id="262" r:id="R86d8606add2c4d49"/>
    <p:sldId xmlns:r="http://schemas.openxmlformats.org/officeDocument/2006/relationships" id="263" r:id="R6c7b2e87402a4bb7"/>
    <p:sldId xmlns:r="http://schemas.openxmlformats.org/officeDocument/2006/relationships" id="264" r:id="R9af869778ea644b6"/>
    <p:sldId xmlns:r="http://schemas.openxmlformats.org/officeDocument/2006/relationships" id="265" r:id="R5cba432d5b0744f7"/>
    <p:sldId xmlns:r="http://schemas.openxmlformats.org/officeDocument/2006/relationships" id="266" r:id="R52b07c06ded14929"/>
    <p:sldId xmlns:r="http://schemas.openxmlformats.org/officeDocument/2006/relationships" id="267" r:id="Rf8bff34fb93c47a7"/>
    <p:sldId xmlns:r="http://schemas.openxmlformats.org/officeDocument/2006/relationships" id="268" r:id="R829da49c15434a07"/>
    <p:sldId xmlns:r="http://schemas.openxmlformats.org/officeDocument/2006/relationships" id="269" r:id="R57098e6df2b54b28"/>
    <p:sldId xmlns:r="http://schemas.openxmlformats.org/officeDocument/2006/relationships" id="270" r:id="Rb71402ba8b3944c7"/>
    <p:sldId xmlns:r="http://schemas.openxmlformats.org/officeDocument/2006/relationships" id="271" r:id="R63f9432b42f5406e"/>
    <p:sldId xmlns:r="http://schemas.openxmlformats.org/officeDocument/2006/relationships" id="272" r:id="R5eefcdb3f2834366"/>
    <p:sldId xmlns:r="http://schemas.openxmlformats.org/officeDocument/2006/relationships" id="273" r:id="Rc98a118c461444a9"/>
    <p:sldId xmlns:r="http://schemas.openxmlformats.org/officeDocument/2006/relationships" id="274" r:id="Ra4f616def4404f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577a9e5894c97" /><Relationship Type="http://schemas.openxmlformats.org/officeDocument/2006/relationships/slideMaster" Target="/ppt/slideMasters/slideMaster1.xml" Id="Redc9cdd1c4c04924" /><Relationship Type="http://schemas.openxmlformats.org/officeDocument/2006/relationships/notesMaster" Target="/ppt/notesMasters/notesMaster1.xml" Id="Re20adf32ad564905" /><Relationship Type="http://schemas.openxmlformats.org/officeDocument/2006/relationships/presProps" Target="/ppt/presProps.xml" Id="R0e4dd7a6f6e14f43" /><Relationship Type="http://schemas.openxmlformats.org/officeDocument/2006/relationships/tableStyles" Target="/ppt/tableStyles.xml" Id="R3f9d75e3508d41f2" /><Relationship Type="http://schemas.openxmlformats.org/officeDocument/2006/relationships/slide" Target="/ppt/slides/slide1.xml" Id="R53f5cb2f2ecd43c6" /><Relationship Type="http://schemas.openxmlformats.org/officeDocument/2006/relationships/slide" Target="/ppt/slides/slide2.xml" Id="R6b725a01b8e94c80" /><Relationship Type="http://schemas.openxmlformats.org/officeDocument/2006/relationships/slide" Target="/ppt/slides/slide3.xml" Id="R1eb5d74c40184d48" /><Relationship Type="http://schemas.openxmlformats.org/officeDocument/2006/relationships/slide" Target="/ppt/slides/slide4.xml" Id="Rf38e05bfc5d840dc" /><Relationship Type="http://schemas.openxmlformats.org/officeDocument/2006/relationships/slide" Target="/ppt/slides/slide5.xml" Id="R16c2ab92c584419c" /><Relationship Type="http://schemas.openxmlformats.org/officeDocument/2006/relationships/slide" Target="/ppt/slides/slide6.xml" Id="Rc4d4a43a27db4980" /><Relationship Type="http://schemas.openxmlformats.org/officeDocument/2006/relationships/slide" Target="/ppt/slides/slide7.xml" Id="R86d8606add2c4d49" /><Relationship Type="http://schemas.openxmlformats.org/officeDocument/2006/relationships/slide" Target="/ppt/slides/slide8.xml" Id="R6c7b2e87402a4bb7" /><Relationship Type="http://schemas.openxmlformats.org/officeDocument/2006/relationships/slide" Target="/ppt/slides/slide9.xml" Id="R9af869778ea644b6" /><Relationship Type="http://schemas.openxmlformats.org/officeDocument/2006/relationships/slide" Target="/ppt/slides/slide10.xml" Id="R5cba432d5b0744f7" /><Relationship Type="http://schemas.openxmlformats.org/officeDocument/2006/relationships/slide" Target="/ppt/slides/slide11.xml" Id="R52b07c06ded14929" /><Relationship Type="http://schemas.openxmlformats.org/officeDocument/2006/relationships/slide" Target="/ppt/slides/slide12.xml" Id="Rf8bff34fb93c47a7" /><Relationship Type="http://schemas.openxmlformats.org/officeDocument/2006/relationships/slide" Target="/ppt/slides/slide13.xml" Id="R829da49c15434a07" /><Relationship Type="http://schemas.openxmlformats.org/officeDocument/2006/relationships/slide" Target="/ppt/slides/slide14.xml" Id="R57098e6df2b54b28" /><Relationship Type="http://schemas.openxmlformats.org/officeDocument/2006/relationships/slide" Target="/ppt/slides/slide15.xml" Id="Rb71402ba8b3944c7" /><Relationship Type="http://schemas.openxmlformats.org/officeDocument/2006/relationships/slide" Target="/ppt/slides/slide16.xml" Id="R63f9432b42f5406e" /><Relationship Type="http://schemas.openxmlformats.org/officeDocument/2006/relationships/slide" Target="/ppt/slides/slide17.xml" Id="R5eefcdb3f2834366" /><Relationship Type="http://schemas.openxmlformats.org/officeDocument/2006/relationships/slide" Target="/ppt/slides/slide18.xml" Id="Rc98a118c461444a9" /><Relationship Type="http://schemas.openxmlformats.org/officeDocument/2006/relationships/slide" Target="/ppt/slides/slide19.xml" Id="Ra4f616def4404f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6dc2177c8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00da1f27d47a0" /><Relationship Type="http://schemas.openxmlformats.org/officeDocument/2006/relationships/notesMaster" Target="/ppt/notesMasters/notesMaster1.xml" Id="Rb35b7db4062f41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4bcbe668f24e68" /><Relationship Type="http://schemas.openxmlformats.org/officeDocument/2006/relationships/notesMaster" Target="/ppt/notesMasters/notesMaster1.xml" Id="Rac1db8f7550140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204789b00446a0" /><Relationship Type="http://schemas.openxmlformats.org/officeDocument/2006/relationships/notesMaster" Target="/ppt/notesMasters/notesMaster1.xml" Id="R2419bf22451947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ae028c7fef43d5" /><Relationship Type="http://schemas.openxmlformats.org/officeDocument/2006/relationships/notesMaster" Target="/ppt/notesMasters/notesMaster1.xml" Id="Rdb748dab95444d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16278b5f344bc2" /><Relationship Type="http://schemas.openxmlformats.org/officeDocument/2006/relationships/notesMaster" Target="/ppt/notesMasters/notesMaster1.xml" Id="R7b67a025460044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a4defc56d24d08" /><Relationship Type="http://schemas.openxmlformats.org/officeDocument/2006/relationships/notesMaster" Target="/ppt/notesMasters/notesMaster1.xml" Id="Rc8952f6f0c904e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ce43be19664ec3" /><Relationship Type="http://schemas.openxmlformats.org/officeDocument/2006/relationships/notesMaster" Target="/ppt/notesMasters/notesMaster1.xml" Id="Rde70e488fe4f41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b7f82bd3614991" /><Relationship Type="http://schemas.openxmlformats.org/officeDocument/2006/relationships/notesMaster" Target="/ppt/notesMasters/notesMaster1.xml" Id="Reb3c73427f1348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fc2c227f524192" /><Relationship Type="http://schemas.openxmlformats.org/officeDocument/2006/relationships/notesMaster" Target="/ppt/notesMasters/notesMaster1.xml" Id="R6eb3bba31c4046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f8b1b969294b7e" /><Relationship Type="http://schemas.openxmlformats.org/officeDocument/2006/relationships/notesMaster" Target="/ppt/notesMasters/notesMaster1.xml" Id="R51aad8a76fab4d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6838c02d24cab" /><Relationship Type="http://schemas.openxmlformats.org/officeDocument/2006/relationships/notesMaster" Target="/ppt/notesMasters/notesMaster1.xml" Id="Rdaf8ef10bfc14c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41046739694627" /><Relationship Type="http://schemas.openxmlformats.org/officeDocument/2006/relationships/notesMaster" Target="/ppt/notesMasters/notesMaster1.xml" Id="Rc4036720d2d541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8d64a95c4a4df9" /><Relationship Type="http://schemas.openxmlformats.org/officeDocument/2006/relationships/notesMaster" Target="/ppt/notesMasters/notesMaster1.xml" Id="R7c110cb151464f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fa184c7cb1408b" /><Relationship Type="http://schemas.openxmlformats.org/officeDocument/2006/relationships/notesMaster" Target="/ppt/notesMasters/notesMaster1.xml" Id="Rcfa0a61f6b0f47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502c4da9754fbd" /><Relationship Type="http://schemas.openxmlformats.org/officeDocument/2006/relationships/notesMaster" Target="/ppt/notesMasters/notesMaster1.xml" Id="R4eca12de3ac34f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572ab179b844f8" /><Relationship Type="http://schemas.openxmlformats.org/officeDocument/2006/relationships/notesMaster" Target="/ppt/notesMasters/notesMaster1.xml" Id="R15d5191fe34545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bca04305674008" /><Relationship Type="http://schemas.openxmlformats.org/officeDocument/2006/relationships/notesMaster" Target="/ppt/notesMasters/notesMaster1.xml" Id="R02afa153ae534b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730ff2e78e4f14" /><Relationship Type="http://schemas.openxmlformats.org/officeDocument/2006/relationships/notesMaster" Target="/ppt/notesMasters/notesMaster1.xml" Id="R50c7495eceaf48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07be8041684d64" /><Relationship Type="http://schemas.openxmlformats.org/officeDocument/2006/relationships/notesMaster" Target="/ppt/notesMasters/notesMaster1.xml" Id="Ra80f5ad38e0846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【30秒】追溯第一 / 候选方案 / 下一步是工作坊</a:t>
            </a:r>
          </a:p>
          <a:p xmlns:a="http://schemas.openxmlformats.org/drawingml/2006/main">
            <a:r>
              <a:t>【关键细节】当前尚未完成制造从业者评审或真实现场验证，不能声称已上线</a:t>
            </a:r>
          </a:p>
          <a:p xmlns:a="http://schemas.openxmlformats.org/drawingml/2006/main">
            <a:r>
              <a:t>【金句】先证明一条事实链，再谈一套大系统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【30秒】一条主线 / 三个决策</a:t>
            </a:r>
          </a:p>
          <a:p xmlns:a="http://schemas.openxmlformats.org/drawingml/2006/main">
            <a:r>
              <a:t>【关键细节】试点成功标准是事实链可复现，不是页面数量</a:t>
            </a:r>
          </a:p>
          <a:p xmlns:a="http://schemas.openxmlformats.org/drawingml/2006/main">
            <a:r>
              <a:t>【金句】没有可信执行事实，大屏只是更快地展示不确定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【30秒】三类工厂特征 / 三个断点假设</a:t>
            </a:r>
          </a:p>
          <a:p xmlns:a="http://schemas.openxmlformats.org/drawingml/2006/main">
            <a:r>
              <a:t>【关键细节】这些是公开证据与代码盘点形成的候选画像，需现场价值流确认</a:t>
            </a:r>
          </a:p>
          <a:p xmlns:a="http://schemas.openxmlformats.org/drawingml/2006/main">
            <a:r>
              <a:t>【金句】方案可信的第一步，是把假设写在台面上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https://www.moxa.com/en/products/industrial-network-infrastructure/secure-routers/secure-routers/edr-g9010-series</a:t>
            </a:r>
          </a:p>
          <a:p xmlns:a="http://schemas.openxmlformats.org/drawingml/2006/main">
            <a:r>
              <a:t>- https://www.moxa.com/en/support/repair-and-warranty/warranty-check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【30秒】三种症状 / 一个根因</a:t>
            </a:r>
          </a:p>
          <a:p xmlns:a="http://schemas.openxmlformats.org/drawingml/2006/main">
            <a:r>
              <a:t>【关键细节】状态用于判断，事件用于追溯，规则与权限决定谁能改变状态</a:t>
            </a:r>
          </a:p>
          <a:p xmlns:a="http://schemas.openxmlformats.org/drawingml/2006/main">
            <a:r>
              <a:t>【金句】CRUD 不是问题；把制造事实当 CRUD 才是问题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【30秒】主路线 / 范围内 / 范围外</a:t>
            </a:r>
          </a:p>
          <a:p xmlns:a="http://schemas.openxmlformats.org/drawingml/2006/main">
            <a:r>
              <a:t>【关键细节】范围不是能力清单，而是责任、数据和验收边界</a:t>
            </a:r>
          </a:p>
          <a:p xmlns:a="http://schemas.openxmlformats.org/drawingml/2006/main">
            <a:r>
              <a:t>【金句】试点越克制，越有机会把第一条事实链做对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【30秒】六条原则 / 权威分工优先</a:t>
            </a:r>
          </a:p>
          <a:p xmlns:a="http://schemas.openxmlformats.org/drawingml/2006/main">
            <a:r>
              <a:t>【关键细节】IEC 62264 支撑职责分层，但不替代具体工厂流程确认</a:t>
            </a:r>
          </a:p>
          <a:p xmlns:a="http://schemas.openxmlformats.org/drawingml/2006/main">
            <a:r>
              <a:t>【金句】ERP 告诉工厂做什么，MES 证明工厂实际上做了什么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https://webstore.iec.ch/en/publication/6675</a:t>
            </a:r>
          </a:p>
          <a:p xmlns:a="http://schemas.openxmlformats.org/drawingml/2006/main">
            <a:r>
              <a:t>- https://webstore.iec.ch/en/publication/75127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【30秒】正常主线 / 三类异常</a:t>
            </a:r>
          </a:p>
          <a:p xmlns:a="http://schemas.openxmlformats.org/drawingml/2006/main">
            <a:r>
              <a:t>【关键细节】异常必须走受控事件和状态转移，不能靠管理员改字段</a:t>
            </a:r>
          </a:p>
          <a:p xmlns:a="http://schemas.openxmlformats.org/drawingml/2006/main">
            <a:r>
              <a:t>【金句】真正的闭环，不是成功能走完，而是失败也说得清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【30秒】四层架构 / 两类数据表达</a:t>
            </a:r>
          </a:p>
          <a:p xmlns:a="http://schemas.openxmlformats.org/drawingml/2006/main">
            <a:r>
              <a:t>【关键细节】模块边界以业务不变量和责任为准，不以页面或数据库表为准</a:t>
            </a:r>
          </a:p>
          <a:p xmlns:a="http://schemas.openxmlformats.org/drawingml/2006/main">
            <a:r>
              <a:t>【金句】状态回答现在怎样，事件回答为什么会这样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【30秒】模板可变 / 下达冻结 / 变更受控</a:t>
            </a:r>
          </a:p>
          <a:p xmlns:a="http://schemas.openxmlformats.org/drawingml/2006/main">
            <a:r>
              <a:t>【关键细节】快照必须保存业务值而不只是 ID 或版本字符串</a:t>
            </a:r>
          </a:p>
          <a:p xmlns:a="http://schemas.openxmlformats.org/drawingml/2006/main">
            <a:r>
              <a:t>【金句】今天改模板，不能改写昨天产品的制造历史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【30秒】SN 中心 / 六类证据 / 前后关系</a:t>
            </a:r>
          </a:p>
          <a:p xmlns:a="http://schemas.openxmlformats.org/drawingml/2006/main">
            <a:r>
              <a:t>【关键细节】GS1 EPCIS 可支撑事件语义，IPC-1782A 可支撑追溯风险分级；具体字段仍需工厂确认</a:t>
            </a:r>
          </a:p>
          <a:p xmlns:a="http://schemas.openxmlformats.org/drawingml/2006/main">
            <a:r>
              <a:t>【金句】追溯不是一张大表，而是一条能解释因果的证据链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https://ref.gs1.org/standards/epcis/</a:t>
            </a:r>
          </a:p>
          <a:p xmlns:a="http://schemas.openxmlformats.org/drawingml/2006/main">
            <a:r>
              <a:t>- https://emails.ipc.org/emails/tech/ipc-standards.html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【30秒】失败到复测 / 三类对象</a:t>
            </a:r>
          </a:p>
          <a:p xmlns:a="http://schemas.openxmlformats.org/drawingml/2006/main">
            <a:r>
              <a:t>【关键细节】检测结果、不合格、质量保留、处置和返工执行不能合并成一个状态字段</a:t>
            </a:r>
          </a:p>
          <a:p xmlns:a="http://schemas.openxmlformats.org/drawingml/2006/main">
            <a:r>
              <a:t>【金句】失败可以被解决，但不能被擦掉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【30秒】三件事 / 两个账本要求</a:t>
            </a:r>
          </a:p>
          <a:p xmlns:a="http://schemas.openxmlformats.org/drawingml/2006/main">
            <a:r>
              <a:t>【关键细节】仓储接收、库存权威和财务入账责任需结合真实 WMS/ERP 再确认</a:t>
            </a:r>
          </a:p>
          <a:p xmlns:a="http://schemas.openxmlformats.org/drawingml/2006/main">
            <a:r>
              <a:t>【金句】发到线边，不等于发到订单；发到订单，也不等于装到产品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https://learn.microsoft.com/en-us/dynamics365/supply-chain/warehousing/warehouse-management-overview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【30秒】五段流 / 三个可靠性机制</a:t>
            </a:r>
          </a:p>
          <a:p xmlns:a="http://schemas.openxmlformats.org/drawingml/2006/main">
            <a:r>
              <a:t>【关键细节】接口字段、单据类型、技术账户和错误码必须以真实 ERP 版本验证</a:t>
            </a:r>
          </a:p>
          <a:p xmlns:a="http://schemas.openxmlformats.org/drawingml/2006/main">
            <a:r>
              <a:t>【金句】最难的不是把消息发出去，而是证明它只发生一次并最终对上账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https://webstore.iec.ch/en/publication/25465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【30秒】五类角色 / 允许与禁止</a:t>
            </a:r>
          </a:p>
          <a:p xmlns:a="http://schemas.openxmlformats.org/drawingml/2006/main">
            <a:r>
              <a:t>【关键细节】小团队可以一人多角色，但系统仍应保留审批主体与执行主体的区别</a:t>
            </a:r>
          </a:p>
          <a:p xmlns:a="http://schemas.openxmlformats.org/drawingml/2006/main">
            <a:r>
              <a:t>【金句】兼岗可以，越权不可以；管理员也不是万能审批人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【30秒】三层拓扑 / 六项运行门禁</a:t>
            </a:r>
          </a:p>
          <a:p xmlns:a="http://schemas.openxmlformats.org/drawingml/2006/main">
            <a:r>
              <a:t>【关键细节】安全配置、迁移、备份恢复和日志证据必须进入版本交付包</a:t>
            </a:r>
          </a:p>
          <a:p xmlns:a="http://schemas.openxmlformats.org/drawingml/2006/main">
            <a:r>
              <a:t>【金句】能跑起来是开发完成；能安全恢复才接近可交付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【30秒】R0 到 R6 / 风险优先</a:t>
            </a:r>
          </a:p>
          <a:p xmlns:a="http://schemas.openxmlformats.org/drawingml/2006/main">
            <a:r>
              <a:t>【关键细节】5–6 周是当前代码库救援估算，不代表真实客户项目合同周期</a:t>
            </a:r>
          </a:p>
          <a:p xmlns:a="http://schemas.openxmlformats.org/drawingml/2006/main">
            <a:r>
              <a:t>【金句】先清数据库和领域风险，再把 UI 建在正确事实之上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【30秒】五级可信度 / 当前目标 L2</a:t>
            </a:r>
          </a:p>
          <a:p xmlns:a="http://schemas.openxmlformats.org/drawingml/2006/main">
            <a:r>
              <a:t>【关键细节】自动化测试只能证明技术行为，不能替代工艺真实性或现场可用性</a:t>
            </a:r>
          </a:p>
          <a:p xmlns:a="http://schemas.openxmlformats.org/drawingml/2006/main">
            <a:r>
              <a:t>【金句】最专业的表述，不是我都做过，而是我知道什么还没有被证明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【30秒】六类问题 / 三步验证</a:t>
            </a:r>
          </a:p>
          <a:p xmlns:a="http://schemas.openxmlformats.org/drawingml/2006/main">
            <a:r>
              <a:t>【关键细节】主数据、接口账户、单据类型和业务规则必须与接口开发并行盘点</a:t>
            </a:r>
          </a:p>
          <a:p xmlns:a="http://schemas.openxmlformats.org/drawingml/2006/main">
            <a:r>
              <a:t>【金句】下一步不是承诺上线，而是把最贵的未知尽早验证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【30秒】事实链 / 证据边界 / 下一步</a:t>
            </a:r>
          </a:p>
          <a:p xmlns:a="http://schemas.openxmlformats.org/drawingml/2006/main">
            <a:r>
              <a:t>【关键细节】结束时不要承诺上线；把讨论落到工作坊参与人、样例数据和接口验证条件</a:t>
            </a:r>
          </a:p>
          <a:p xmlns:a="http://schemas.openxmlformats.org/drawingml/2006/main">
            <a:r>
              <a:t>【金句】不急着证明系统很大，先证明每个事实都是真的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8bf1718bba4f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add2ce5204a52" /><Relationship Type="http://schemas.openxmlformats.org/officeDocument/2006/relationships/slideLayout" Target="/ppt/slideLayouts/slideLayout1.xml" Id="R32a075f69b5944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a075f69b5944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da6a3ee2f410d" /><Relationship Type="http://schemas.openxmlformats.org/officeDocument/2006/relationships/notesSlide" Target="/ppt/notesSlides/notesSlide1.xml" Id="Rd50e3a44c8b64a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068a65f5f42c1" /><Relationship Type="http://schemas.openxmlformats.org/officeDocument/2006/relationships/notesSlide" Target="/ppt/notesSlides/notesSlide2.xml" Id="R0c7b046a5def4c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bacaaf18a416d" /><Relationship Type="http://schemas.openxmlformats.org/officeDocument/2006/relationships/notesSlide" Target="/ppt/notesSlides/notesSlide3.xml" Id="Rccb7f5b7c40443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ab1d20ec547c7" /><Relationship Type="http://schemas.openxmlformats.org/officeDocument/2006/relationships/notesSlide" Target="/ppt/notesSlides/notesSlide4.xml" Id="R0df3d43ec98846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c975fb2b747cb" /><Relationship Type="http://schemas.openxmlformats.org/officeDocument/2006/relationships/notesSlide" Target="/ppt/notesSlides/notesSlide5.xml" Id="R4127852a88484d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2279d862f4c45" /><Relationship Type="http://schemas.openxmlformats.org/officeDocument/2006/relationships/notesSlide" Target="/ppt/notesSlides/notesSlide6.xml" Id="R0e8da4d7da5043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da60b1489490d" /><Relationship Type="http://schemas.openxmlformats.org/officeDocument/2006/relationships/notesSlide" Target="/ppt/notesSlides/notesSlide7.xml" Id="R224a5525f34f40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2396d5a2a444b" /><Relationship Type="http://schemas.openxmlformats.org/officeDocument/2006/relationships/notesSlide" Target="/ppt/notesSlides/notesSlide8.xml" Id="Ra4040396b6b641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99af0824b45c2" /><Relationship Type="http://schemas.openxmlformats.org/officeDocument/2006/relationships/notesSlide" Target="/ppt/notesSlides/notesSlide9.xml" Id="R86cfee54312d46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956444127474d" /><Relationship Type="http://schemas.openxmlformats.org/officeDocument/2006/relationships/notesSlide" Target="/ppt/notesSlides/notesSlide10.xml" Id="R7d56530a500849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a8ecc1db9454d" /><Relationship Type="http://schemas.openxmlformats.org/officeDocument/2006/relationships/notesSlide" Target="/ppt/notesSlides/notesSlide11.xml" Id="R3789cada6b5e41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58f4d8e814090" /><Relationship Type="http://schemas.openxmlformats.org/officeDocument/2006/relationships/notesSlide" Target="/ppt/notesSlides/notesSlide12.xml" Id="Rdd5348471aac4d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30727db29470b" /><Relationship Type="http://schemas.openxmlformats.org/officeDocument/2006/relationships/notesSlide" Target="/ppt/notesSlides/notesSlide13.xml" Id="R342df342049a45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a45f7f7eb4b92" /><Relationship Type="http://schemas.openxmlformats.org/officeDocument/2006/relationships/notesSlide" Target="/ppt/notesSlides/notesSlide14.xml" Id="R6f14d3ada2584b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9e7cb5a4e44ca" /><Relationship Type="http://schemas.openxmlformats.org/officeDocument/2006/relationships/notesSlide" Target="/ppt/notesSlides/notesSlide15.xml" Id="R5e099cbef03b43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17bae752f4dc7" /><Relationship Type="http://schemas.openxmlformats.org/officeDocument/2006/relationships/notesSlide" Target="/ppt/notesSlides/notesSlide16.xml" Id="R2287874959a84e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0d7024d644c7c" /><Relationship Type="http://schemas.openxmlformats.org/officeDocument/2006/relationships/notesSlide" Target="/ppt/notesSlides/notesSlide17.xml" Id="Rd9519a9fdb684a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9ba80b4824f94" /><Relationship Type="http://schemas.openxmlformats.org/officeDocument/2006/relationships/notesSlide" Target="/ppt/notesSlides/notesSlide18.xml" Id="R33e46ad7c6024b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289d3be39493c" /><Relationship Type="http://schemas.openxmlformats.org/officeDocument/2006/relationships/notesSlide" Target="/ppt/notesSlides/notesSlide19.xml" Id="R16319f7b99de4a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7C753-B3D5-4028-BE68-0194C361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3385-D423-474C-AF44-4314C878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1EEE4-2D24-496B-945A-4AF6A1C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工业路由器装配 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BD3E9-11F9-4BBE-91A5-4CFD369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试点候选方案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827D6-24F3-4DD0-9084-B0E13191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以成品 SN 全过程追溯为第一价值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F0092-DBE3-4C23-AC3A-20D57A7D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AF0F-D01F-4FF5-836A-1F60EB9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范围克制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FD5A-807B-4165-85E7-A67CA832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2D343-BFF3-4B37-9458-13A3354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719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证据透明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DF679-2C9C-41DF-A6CD-50D63E2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43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DA4F0-BCFE-4FB2-BD30-6D9CD9D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71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可增量救援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FD157-8291-4B0A-AEC5-341910F2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高级售前工程师  李文韬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FAAA-2BE4-485C-B95F-F8D54D0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方案基线 0.1  |  2026-07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E1B7E-9511-4924-8DB2-43BB4A5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244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候选方案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不是客户已验收事实</a:t>
            </a:r>
          </a:p>
        </p:txBody>
      </p:sp>
    </p:spTree>
    <p:extLst>
      <p:ext uri="{BB962C8B-B14F-4D97-AF65-F5344CB8AC3E}">
        <p14:creationId xmlns:p14="http://schemas.microsoft.com/office/powerpoint/2010/main" val="39601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E1F71-DF59-4A61-A5EF-9BF35B49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A4904-9210-4698-866E-04007F1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D33BE-38F8-451E-A88D-3C59276D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01 决策摘要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CF47F-D53A-45BD-99E4-43F4542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先建立可核验事实，再扩展经营可视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017A3-70EA-45AD-B0CA-7F975ED4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38863-604C-407F-8AE6-33DDBD99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E35DE-8CE0-4847-BFE2-AA79BF8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28996-8579-4E9C-AED8-946DA1A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2D04A-A2D1-4158-9E98-5290D056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CC2B2-72E4-433C-8F53-236CC9C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5720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B7E3A-1AEE-4659-A9D7-BF31098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第一阶段的唯一主线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E538E-5F21-4F60-84F8-22D4A6E1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790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每台成品 SN 的订单、工艺、物料、固件、测试、质量与回执，形成一条不可覆盖的事实链。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7085C-90A8-4472-B8B4-4755236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0F5BC-4113-452A-9A3E-ED4F1E09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不是先做 OEE、大屏或完整 WMS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9F40E-1901-413E-A906-632037A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6096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2F2A5-949D-4470-A1F7-D8880455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E0D8C-28F6-4000-9EBA-76DD1B53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430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01 先追溯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5B0CA-FE6D-4738-AC84-E0967A43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669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固定 SN 可导出订单、快照、工序、物料、固件、测试、质量和回执。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91DA2-D93A-4E2C-A12C-3B65F0A8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6096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9AA9D-1FBA-4908-903E-33E219D5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C3370-AD61-4A25-9D27-4F9C4A99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02 后扩展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54F32-A6F0-4B13-926D-1A03983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623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效率分析、经营可视和系统集成都建立在可信制造事实之上。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82F9F-5484-40AD-B883-FC14F28D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6096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15C12-0DAF-4B88-BB69-EDBD9C4D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0922C-9FA0-4777-B995-F11AC5C1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338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03 先验证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DE4A6-985A-4FC3-B5EA-9C57F38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公开资料只支撑边界；工艺顺序、阈值和接口字段必须在工作坊确认。</a:t>
            </a:r>
          </a:p>
        </p:txBody>
      </p:sp>
    </p:spTree>
    <p:extLst>
      <p:ext uri="{BB962C8B-B14F-4D97-AF65-F5344CB8AC3E}">
        <p14:creationId xmlns:p14="http://schemas.microsoft.com/office/powerpoint/2010/main" val="1626222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7D68DF-55CD-4B44-B923-1B02879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FC2AA-FCFA-44B6-BEBC-886E23AF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E6952-C0D8-4A58-8DC0-FC9ED4F1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02 目标工厂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BB318-9401-41BB-8E8D-09FD060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我们假设的是一类工厂，不是假装认识某一家工厂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CAF4B-D558-47BF-90ED-F1D8794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B12CA-7580-4967-B1B5-6970E8F4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B98C-BEE0-4D56-BA77-69657359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D5B90-6E2B-4F4A-9244-53095EBF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BDDB1-6CDB-4549-B102-8EF22AC0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0C6DC-9AB7-4334-8C88-97D3E00C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候选工厂画像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7069E-07FD-4276-B6BA-01FA77DA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82080-5C8B-440A-BB63-3E00E59D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AC0B6-14A6-41A7-9BDE-71A33017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离散装配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3F17D-DF52-42D8-B56E-FB7DCAD7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工业路由器由已测 PCBA、结构件、模块与标签进入整机装配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1A3F9-4901-4D07-903B-C66D36E5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1123A-71FE-4D69-97BC-1CF1752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EEEC2-1C5C-4BC5-B050-F64C5DB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身份密集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2023D-FE20-4598-92E7-69A06459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成品 SN、部件 SN、MAC、证书与标签需要来源和绑定历史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3725B-6D01-4F76-A4E4-A789F5B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0B6BB-9110-41A8-A12E-79F6605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CCB8C-D733-434F-825C-A22FCB86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测试关键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D6B9D-7D21-4E53-88BC-5F2FF352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固件配置、功能测试、质量处置决定是否允许完工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9A194-24BC-4BF4-BF5E-7661FD57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当前断点假设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607E4-E15C-4B8E-BACB-D1980F1B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3F117-583A-449F-9FCA-DA678C13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915C8-671B-48C7-B917-0BA5B09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订单变更无执行快照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08E20-DE86-4F21-853E-4AA210E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模板漂移 → 同一订单不同 SN 难以解释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C2717-4785-4872-BA33-DC9D7A3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D1DFA-8CB9-43C2-87A9-CA065A7C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B36CD-F31F-47D8-A61E-6B1CDAF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测试与质量被状态覆盖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EA496-44DE-4741-A48E-F0B10E43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失败被改写 → 无法证明返工与复测责任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C6E07-782A-44DF-87EA-048BA89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84F3A3-D1AA-4B56-BE45-9DED3C1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F4C1F-A2A2-48EE-9EA9-8807ED6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ERP 回执缺少对账闭环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891BDC-0A47-4BB7-915D-9F54A92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模拟成功 → 财务/库存结果仍可能未落账</a:t>
            </a:r>
          </a:p>
        </p:txBody>
      </p:sp>
    </p:spTree>
    <p:extLst>
      <p:ext uri="{BB962C8B-B14F-4D97-AF65-F5344CB8AC3E}">
        <p14:creationId xmlns:p14="http://schemas.microsoft.com/office/powerpoint/2010/main" val="1900888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7CEA0-797F-42F9-98CF-9A2CD9AD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D35A9-D22B-40C5-80B2-0E75DAF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19C29-6033-47A5-BDE8-4EAE828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03 痛点归因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56C59-C197-42C5-B466-4CA03584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问题不在缺页面，而在缺少执行事实与责任闭环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93182-955E-4E67-BBAF-BDA62A98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1FE21-ADF2-43B6-AE68-E1BD4672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2466D-DB44-480E-93C7-E1271FD5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B8ED2-E02B-4831-8D2C-048CCF0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9A0FD-333E-4D57-9BD8-5ECCBF9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C919D-9D71-46C5-A118-7BBFDB48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表面现象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1BD9D-BE60-44E8-8262-47F0733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810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2D5BA-9487-4853-8E8F-8696990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重复录入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A315F-914B-44B5-9DA3-E82B9F8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纸面、Excel 与系统结果并存 → 查询时重新拼事实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315DE-1ABD-49EA-9918-64C76B85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810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61162-ACC5-41D3-890B-36F865BB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状态自由修改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8727B-6F84-432D-A854-D3EA519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当前结果覆盖历史 → 无法证明谁在何时做了什么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BFB3-6020-466B-AA7C-1C9BC78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810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89BDC-E41A-45AF-8768-014599A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系统各自成功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B8C71-10C0-4E72-990B-3904F71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MES 显示发送 → ERP 可能拒绝、重试或重复入账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45256-CE4C-4ED8-BBD1-B7613BD4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1143000" cy="838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33C9C-EE9C-44E8-B6B6-776DFD4D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292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FA2A7-0FB2-4CF3-909F-6D166AC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根因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5B2AC-8A95-463D-A931-588EDB1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业务规则、制造事件、当前状态与职责没有被分开建模。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F8643-D63C-4E38-9EBB-484D94E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3A3D5-3BE0-4919-B949-DED76A9F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页面越多，只会让错误语义扩散得更快。</a:t>
            </a:r>
          </a:p>
        </p:txBody>
      </p:sp>
    </p:spTree>
    <p:extLst>
      <p:ext uri="{BB962C8B-B14F-4D97-AF65-F5344CB8AC3E}">
        <p14:creationId xmlns:p14="http://schemas.microsoft.com/office/powerpoint/2010/main" val="1731247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82B70-79B0-4E8D-B20A-5208C494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651A1-DF6F-4827-89F1-77C85AA9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0ABC9-46D7-42D0-B832-ED7CAE6D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04 试点边界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E941F-A9D3-4B5F-ADE9-FA80BFD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从已测 PCBA 开始，到合格整机交接为止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649C3-6F41-44C9-9CF3-42CBAA3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C62AA-08BC-41EC-8217-1DCB468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F6227-D702-4794-99DD-4AF5519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C70E7-ADA9-4FB1-9ABA-CC4388AB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EE785-5899-4BA3-88B1-E832C7B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70695-7949-4873-B220-DC2D8C68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范围内：形成可闭环的整机装配主线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07F85-B6C7-4A51-BF08-254BA7E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DD8AE-872E-4F9D-AF21-86D0000B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START_WIP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17120-5CB1-4663-83F4-2A31897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7ACFD-0F35-4865-8198-0CA3C9C5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装配绑定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1FB0D-DA14-41E9-B9B5-7EE28452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CCD89-1104-4B00-B161-96323392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固件配置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F05DE-8EC3-406F-BB4F-516C0991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2AEE7-C963-4B4B-B7EB-71769A9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功能测试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57CEC-B969-454A-99CA-D25D5C0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56DF6-B285-4CFB-9A20-C2E5AA34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终检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F4D73-2F35-4C56-A811-1FA403EA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F8A5B-0016-4C6B-9845-6E23B26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合格完工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F8829-AD16-44CD-9918-340DE88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2387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13129-ED85-4127-9D01-DA448FB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FC7DD-C00C-4F61-9427-4DBAD8E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明确纳入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D9997-5FC4-450B-A0F6-C7324F2F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914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订单与执行快照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成品/部件身份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物料交接、发料与耗用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测试、质量、返工与复测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完工、交接、回执与谱系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EC2A8-4753-4E70-88AA-3D6591DC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E5EE6-8F4C-4A49-817C-F663028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42A5A-089D-4E7C-B1AC-81D2D10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明确排除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69096-D75D-44A3-A9E8-46148F71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5105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SMT、回流焊、AOI、ICT 等上游制造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完整 WMS / APS / SPC / OEE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PLC 与设备自动控制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财务总账、采购销售与成本核算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未经授权生成的 MAC / IMEI / 证书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AE600-193D-4556-9A89-CA626485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36B27D-5FBA-4717-B262-4F06ECFF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1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边界假设：上游 PCBA 已完成测试；真实起点、包装责任和仓储交接需现场确认。</a:t>
            </a:r>
          </a:p>
        </p:txBody>
      </p:sp>
    </p:spTree>
    <p:extLst>
      <p:ext uri="{BB962C8B-B14F-4D97-AF65-F5344CB8AC3E}">
        <p14:creationId xmlns:p14="http://schemas.microsoft.com/office/powerpoint/2010/main" val="113326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1AC2E-AEC6-43F3-A9EC-AB3A4D14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FAE80-DF40-4AEB-92B1-434BFD1C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5CF2E-6A07-499F-87E8-91479C9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05 建设原则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71A37-E0F7-431D-97FA-34C119F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 负责计划与财务，MES 负责执行与制造事实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FFEE6-23EB-49AE-81DB-1E90737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9E3E7-1F97-4017-A57F-BD17FD59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F83E9-0C6D-4DF7-8E7F-C83304D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C433E-5449-4B22-9B80-50D6D7D9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3E8C9-1EA3-4489-818B-E9E30EE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2742D-6A00-43BE-8945-9A1284AC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E66DD-0010-478B-978B-8A02417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02AD0-00BE-41C1-9B03-735CEBB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权威分工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C371F-FA5C-4109-8269-CE5CD615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ERP：产品、物料、订单、计划与财务结果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MES：执行规则、单件状态与制造事件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458E4-8D64-48C6-B175-9B8F6B9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95A31-C3D0-4988-8390-69634F87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FAD8E-A932-4BB2-BAA1-EADCF3B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430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02 快照冻结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40380-BC00-45D5-A289-F1DF56BB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订单下达时固化 BOM、路线、追溯与测试规则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0A416-EA5D-4888-A2F5-22F5DDB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F6E0A-B207-4F54-89F7-198527C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85663-CF6E-4955-8D70-49C306A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430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03 历史不可覆盖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508A8-8DE5-46BA-8A15-5C43EE15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更正通过冲正、解除和新事件表达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554CC-5FB7-4C8C-A705-453AF9BA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8DA17-E60D-4BE5-9DC8-EE13891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E8C22-8117-47B0-9CBE-04F158C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04 事务内聚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6F0AC-BEA7-4054-A166-13B857F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规则校验、状态、事件与 Outbox 同事务提交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C05C3-CD31-44DE-B7EB-565566C2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96EFA-0D6D-4FF5-90BB-FAF2F0C3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EBB11-83D7-4A24-84E5-0C667984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05 职责分离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12BF6-B4D3-4343-A592-2E8948F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计划、工艺、质量、操作与系统管理权限不互替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6349C-750B-4DD3-9275-7D076B68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08511-EB86-4BA8-B6ED-D6A0F825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F9BBC-9DD6-436E-8047-6A88AF74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06 先纵向闭环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11E7D9-49E9-4F52-9E14-AB8E11A5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先打通一个 SN，再扩展模块与页面</a:t>
            </a:r>
          </a:p>
        </p:txBody>
      </p:sp>
    </p:spTree>
    <p:extLst>
      <p:ext uri="{BB962C8B-B14F-4D97-AF65-F5344CB8AC3E}">
        <p14:creationId xmlns:p14="http://schemas.microsoft.com/office/powerpoint/2010/main" val="1134925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F8E2B-1F0D-4149-BB25-49C91864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EA3A7-3521-46F5-BB02-D874FA8F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F106E-10DD-4A22-BF1F-C1AD1822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06 业务主路径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D119E-E5DF-428A-8558-025F0BC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一条正常路径，三类异常必须在同一模型闭环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931CF-4247-423E-957A-4F3A233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29C0D-B9C6-4A09-9382-4A3DA49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56B28-1904-4C58-BC13-7A9D20F7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CA48D-C97E-443B-979D-FDA3D85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21827-4507-4132-91FE-D8205F4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C71DB-1E2D-4DCE-9174-0593C2E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58D39-80A7-487B-901F-E98FA36F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订单入站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28673-22B8-4177-A46B-35C1677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6D8CD-F429-4BA4-8614-17AE832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下达快照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E8BFE-5C3A-472A-913E-14004E7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36201-F1F4-48D0-B249-DEEAEB51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START_WIP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72EF5-51C6-4E2F-BD10-CD981E44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D4B4C-8BC4-445C-8BB2-116FF09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装配/固件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022D4-E886-49A5-80CD-3F8A069D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2114D-6736-4167-BAD5-AAF2695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测试/终检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90362-704C-47B0-A884-CA21FD62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58101-371A-40DA-AD09-DE1133E9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完工交接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9AA53-0FF5-4702-B603-45F4B3E5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异常不是旁路；异常决定事实链是否可信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61AE3-1665-4FAB-BF3B-AB7E525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895C0-6A23-4237-B05D-396A3A32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68527-94C1-4CE5-A5AE-E63A360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测试失败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F54D3-42E4-4679-8BD5-8942FA2D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保留失败测量 → 创建不合格 → 质量保留 → 处置 → 返工/复测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154FB-D876-49D6-B368-BFE3C384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7B668-78A8-46E8-898A-C0C6386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CFF72-FB40-4000-9B3C-C6335972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报废与短结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E97A79-7012-4F30-BA67-109F0C83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报废事件与物料冲正 → 订单数量重新平衡 → 未投产数才允许关闭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0782FF-AA9B-4C85-87CB-0C1D6A5B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213DC-B2E2-4790-9DEF-396097ED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5144A-F675-4F5C-9339-6C71E47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集成失败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E5F348-9A8A-4AD6-9141-EFBAE4B0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Outbox 失败 → 重试/死信 → 对方回执 → 对账完成前订单不能关闭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F81AE-4AD2-482F-A3FB-365534D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门禁：任何质量保留、缺失必测项或未对账回执，均阻止关闭。</a:t>
            </a:r>
          </a:p>
        </p:txBody>
      </p:sp>
    </p:spTree>
    <p:extLst>
      <p:ext uri="{BB962C8B-B14F-4D97-AF65-F5344CB8AC3E}">
        <p14:creationId xmlns:p14="http://schemas.microsoft.com/office/powerpoint/2010/main" val="167556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09059-BD90-4249-8AA6-EAD4CA9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E8A80-FB63-49C6-B9C5-7BF27DB4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86CBC-987B-4E44-A827-429B48AE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07 逻辑架构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07F68-53D8-4811-A0BF-3F66AB8C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模块按业务责任划分，集成可靠性是独立能力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CA98A-2018-40EF-B032-4B233AD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FBE10-E893-415E-913E-0EF26F55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E157F-E7A5-4EAC-9D49-2E328D27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D0410-5EE7-482B-B370-DA5A3A87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C58EB-13F6-46BC-8264-97E912AE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CC55C-AC80-4A6D-9F2C-D2F18F1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8968E-89E1-4070-A9E7-719AA523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29138-87D3-47FA-AA8C-57C5839F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08487-C81F-4144-8F8B-ADDC2CDA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02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ERP / WMS / 身份与证书系统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7F33A-CE1C-4AC6-A513-9FE6A116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9CA2C-89DF-4B34-8F30-4133E07F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82F47-7154-4980-8A18-B645112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集成边界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55D44-DFA4-456A-8BEC-92511D8E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670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Inbox · 适配器 · Outbox · 回执 · 对账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9AA1A-A239-458B-AFCC-5F2281B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F0555-B9A5-4BB5-BEB9-35A332E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AA578-9C3B-4E21-BC6A-6AFEBCF4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MES 领域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5CC86-394A-4FFA-B53C-99702DCB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8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ProductionOrders · Execution · Identity · Materials · FirmwareAndTests · Quality · Completion · Genealogy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AA4D4-ED7A-45DC-9F79-AA63B711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BA8D5-B215-4FC4-9DFC-D46E9EED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9EB3F-BC5D-4E7D-9FF9-16F575D5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3096F-12D2-489E-B906-166FF2A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006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SQL Server 当前状态 + 只追加制造事件 · 文件存储 · 后台任务 · 审计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65081-5695-4137-97C7-868A8442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写模型：关系型当前状态便于任务执行；事件：只追加历史便于追溯、审计和解释。</a:t>
            </a:r>
          </a:p>
        </p:txBody>
      </p:sp>
    </p:spTree>
    <p:extLst>
      <p:ext uri="{BB962C8B-B14F-4D97-AF65-F5344CB8AC3E}">
        <p14:creationId xmlns:p14="http://schemas.microsoft.com/office/powerpoint/2010/main" val="13444395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BB50F-7E16-4483-8AAA-C09B7F50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77E28-8999-43FC-908E-C61E22B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F85CB-6813-4931-AACA-5B9BF9E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08 执行快照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D8DD-D255-43C7-81BA-FA2A0C2C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订单下达后，执行依据必须与模板版本解耦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E0D00-538B-4285-BDA6-04A83DA9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BA9E5-7067-4393-95A8-7F648E0D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25AEA-5F20-4CF0-B461-0125C51E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81689-78AC-43B2-A799-B72A787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313B7-1EF3-4953-BF35-6C66747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2DD76-9512-43FA-ACC2-F3207F43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下达前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32116-8E36-448A-A71C-E20CA3D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524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1FDF5-8665-4B03-8BC6-3166682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可变模板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179DF-8209-4185-89EE-3D3F624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200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产品版本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BOM 与单位用量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工艺路线与工位能力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身份/追溯策略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固件与测试规范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完工门禁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26335-00EA-4275-8F7A-9AEAF0B7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428750" cy="857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097F5-C0FA-4B5B-A942-74D325C8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CF356-07AD-4257-A898-33CAD926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下达后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056A-7F00-4FE7-B8AA-3CDD4E6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429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15462-DE48-4344-B07F-939AF4D8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797E4-7B2F-4207-B17D-AC251EE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不可变执行快照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7C48A-0294-492B-9F00-DA5D51E4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05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快照包含完整业务值和批准版本；后续模板变更不回写已投产 SN。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订单受控变更必须形成提案、影响分析和批准记录。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A045E-8669-4BF3-B965-25B357D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1049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0D116-B2BC-4A57-92EA-446F6C4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 SN 的执行依据必须可以脱离当前模板独立还原。</a:t>
            </a:r>
          </a:p>
        </p:txBody>
      </p:sp>
    </p:spTree>
    <p:extLst>
      <p:ext uri="{BB962C8B-B14F-4D97-AF65-F5344CB8AC3E}">
        <p14:creationId xmlns:p14="http://schemas.microsoft.com/office/powerpoint/2010/main" val="523039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D4DE22-7270-46C2-BB50-846BCA7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2FE17-7175-4970-B158-59B5659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B427D-BF24-407F-B232-D18CEF8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09 全过程谱系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70BD0-10CF-410C-B9F1-E831F25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成品 SN 是查询入口，制造事件是可解释证据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41924-EF27-4A49-A258-4B10B312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4456-0D9A-4086-9281-35FDCB8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4E090-BDD6-47CF-BE18-8F4FB64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B0D18-68DF-42C7-AE65-80E11F6B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03506-1F1D-45F7-BA60-E94C9F3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9CE45-CDE2-4A86-A3E7-4D1EAF4B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575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1B4FF-F3A5-4268-AA56-3E29A459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成品 SN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72CA6-CB3F-4AA4-B663-9C92A791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RTR-000184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581D9-37EB-49FC-9B8F-89F790DE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F9E43-B278-45C4-8791-3BFAA964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2C0EE-6318-4076-A610-2EF8384B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D58F4-B90C-425A-8696-E259164C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3DA01-25EF-4221-89DB-9CFE3E6B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7F5A2-82B6-40D5-8C20-7128BB0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CC4CA-6D47-473C-97D6-2011EFC2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订单与快照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F71FE-4190-4657-AC37-B866E6AF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订单、版本、路线、规则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9EDBE-7509-45E3-82C8-064AACD1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6B08F-4D7E-4F69-9CA0-C6D8FB5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A78F4-D059-4326-AEA5-E5DC2FB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物料谱系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25F0C-FBAC-4430-83A0-77CAA7A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部件 SN / Lot / 数量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FEB37-F6AB-4E1C-9991-E285572D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97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176D8-9A51-40DA-8034-569C303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9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602BD-F481-4BF9-8865-400376DA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240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固件配置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0B4A5-B09F-4A15-97E1-1423A266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版本、校验值、设备、操作者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01B92-2DCA-472B-A5AE-096A8E0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BEFF40-6DBA-4275-BC02-F916B73A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65B9A-6162-445C-87D4-E666F159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测试质量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CA794D-00B0-42BF-8AC9-35C7257D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逐项测量、失败、处置、复测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6522E4-5386-4C88-943C-949AF95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EFD97B-3B18-4045-8B6C-5D6A7294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18A8CB-A30F-4B1E-9694-82653B2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768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制造事件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C6ECB-A68A-4596-AED6-B4B8590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006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工厂、产线、工位、时间、主体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217CAB-DCBA-4338-BC05-91FAC0F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DB2E6-4A01-41E8-9E6D-8B32370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D72139-B6A1-43E2-BD5A-A9E4C7C6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交接回执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E6A07F-038D-425E-B4E3-F1972D1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006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仓储接收、ERP 入账、对账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39A13-D36B-4728-AEAA-409F2FE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查询结果必须展示更正、冲正、解除和复测前后关系，而不是只显示最后状态。</a:t>
            </a:r>
          </a:p>
        </p:txBody>
      </p:sp>
    </p:spTree>
    <p:extLst>
      <p:ext uri="{BB962C8B-B14F-4D97-AF65-F5344CB8AC3E}">
        <p14:creationId xmlns:p14="http://schemas.microsoft.com/office/powerpoint/2010/main" val="8294026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1CCC2-25E0-45A8-9257-EC5751FB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86334-9F6B-4D43-9E7E-FDB6C1A1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36677-AF75-4691-8D4E-9CCB2A77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10 测试与质量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23ADD-B29F-4128-A929-A10F2BFD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失败记录永不覆盖，放行权与执行权必须分离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D07FE-2650-4CD8-B02D-57380503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1D6C1-F8B0-42C7-A0F5-C79DD01C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56A01-7B28-46C4-977C-55C936F0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0BE07-3870-4B49-AB46-6CB85AB0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C890C-8773-4A3B-A9BD-4DA14D7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29CA5-2FA0-4F4A-BE96-D600B42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71A03-BD21-4C8C-A082-DE6832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测试失败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AFCAC-1F70-4038-B042-6B329DD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41FBF-4E15-4532-992D-B9B042CB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创建不合格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9B79E-C6B8-45A2-AD64-CCB67720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7BD2A-7AF5-4790-B86D-E9D6881F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质量保留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97FB1-00E2-4A86-B7C7-63894951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A3E83-6700-4E9C-B340-024868C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处置决定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491EF-5C65-481F-9671-F65F2F92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F96FF-CAA6-4225-9EAC-0BCE2394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返工执行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75314-D3E5-48CB-868C-8237BC1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DCE53-B8EE-45DD-98D8-3B3AC29E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复测通过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BA647-5615-4A55-A700-16B0D60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20936-F6B3-49D8-9D6C-1B1C67CB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8CA6D-5867-490B-8AB3-B0FE43DE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TestRun / Measurement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341842-A989-4FB4-9ED7-5370517A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105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每次测试执行独立；逐项测量、阈值、单位、原始报告引用和总体结论全部保留。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00A69-ED3A-4187-8FA4-7722AD3E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B9733-CF9D-4487-A925-3B7DA3C8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3887E-1960-4DAB-8807-D1F84352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Nonconformance / Hold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C6125-A516-471A-9FB5-9E5DDE1B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3105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不合格记录描述事实；质量保留阻止继续完工，不等于处置结论。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12E12-0B4A-4F07-BE3B-1E415C23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944BC-8797-4FA5-8C85-0E87922D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814E0-4CB9-4AFE-B081-CEC9536C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Disposition / Rework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7CA601-98DA-4181-BED8-F921B724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3105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授权质量人员决定返工、让步或报废；操作工只能执行已批准路线。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08755-239D-451F-8C6D-1E4EE0F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禁止：把失败改成通过、删除原始测量、由管理员替代质量人员放行。</a:t>
            </a:r>
          </a:p>
        </p:txBody>
      </p:sp>
    </p:spTree>
    <p:extLst>
      <p:ext uri="{BB962C8B-B14F-4D97-AF65-F5344CB8AC3E}">
        <p14:creationId xmlns:p14="http://schemas.microsoft.com/office/powerpoint/2010/main" val="1271499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37D45-44AB-4A7F-A06D-F939AB8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54306-E88C-42DE-862F-688D40A1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B94D0-AABD-4003-BBB7-EE573370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11 物料执行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F7B67-3627-495C-9CA5-C4AD2921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交接、发料和耗用是三件不同的业务事实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7609B-CE97-4994-BFD1-EDB7FD61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DBBCB-D044-4A63-8513-ED4FEF0F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BB1B2-058B-4084-B67E-F6F74D6B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AF4FE-7E85-44CD-9F04-3EB9F21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32948-3D90-4171-876D-DC371F27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DEE2F-F4BD-4DA8-9238-2535D974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F8565-9BFD-42BA-A65B-19D40252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01 物料交接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CC150-08CD-4B08-A29E-7F782C4D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仓储把责任和数量交给线边；不等于已发给订单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4025A-E1C9-478C-A36E-50ACA69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1049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E18C4-2AFD-48B3-9C9C-600F6AE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02 工单发料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9A2A1-3231-4759-8E36-9BFCA76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从线边可用量分配给订单；不等于已装到产品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93D1D-0AAA-458E-8A55-3F4ABE8F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875B9-0AF9-4EAD-BE07-2BDE097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03 实际耗用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ED0E1-673C-435A-B590-1FC30593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在指定工序绑定到成品 SN、Lot 或数量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9A849-DB5D-4B93-B5BD-1E6C36C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5238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B1958-3E5A-47CD-BA5D-9F4DC779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837EB-0003-44AF-A0BE-1CD352F3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事务账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F4977-B40E-4B45-910A-2515766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491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TransferIn · IssueToOrder · Consume · Return · Reverse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23AB7-23DC-4D56-9FB3-C8E09612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42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A9D2C-7BEF-45C1-BDF5-C148E48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89221-1B67-4762-A773-21CED577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4830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追溯粒度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E953B-4A99-4458-A688-1D3C3D3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0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关键件按 SN，批次件按 Lot，一般件按数量</a:t>
            </a:r>
          </a:p>
        </p:txBody>
      </p:sp>
    </p:spTree>
    <p:extLst>
      <p:ext uri="{BB962C8B-B14F-4D97-AF65-F5344CB8AC3E}">
        <p14:creationId xmlns:p14="http://schemas.microsoft.com/office/powerpoint/2010/main" val="1863538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968957-E54C-4281-A00C-3B692477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E1564-6645-4586-9ED0-871358AE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40CB1-2514-4D6D-BAF0-44F53603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12 企业集成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2F1EA-2952-4753-8F5B-BDA1C383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Inbox 保证入站幂等，Outbox 保证出站可恢复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56FBF-634D-4C70-99B3-9DE74E1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31B5-61BB-4D32-A2F1-F0F148D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99859-38E0-4292-B564-231DD6DB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4EAD8-A752-4F79-A111-53312C60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0FE9D-F533-46B2-A852-5A36D65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AB736-3224-41D8-A1B7-D558929D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8D549-1125-4B45-8B69-FB3C08F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ERP/WMS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B09DC-0A0B-42C8-8D07-622EBBA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A56BC-51FE-484A-90CA-7E9DE66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473EC-79B5-45C5-859E-D4E9C34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Inbox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AC305-CE2D-46A8-92A1-DB0D336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2D480-2720-4C81-8098-A3C8A5D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0BA69-1416-4B48-9A7F-9C47CA8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领域事务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8966B-5CC1-46B1-9D98-E1CD1753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EDEEF-1619-406C-9211-AD0353F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04C57-3CE8-4511-9B78-E7431D4A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Outbox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A6D4A-5E1E-40DC-82D2-DE6E49C0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03BB3-C408-4237-883C-8F64C2CE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38789-7E6C-4A0C-8BB3-AF5A6358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外部回执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3E2CC-1739-4520-A8A6-E88FE409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3485A-5F8D-42C3-AFA5-5CA81E3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51B88-E392-4739-B068-D1E2AD5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入站契约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DC6DB-E807-464B-B5D6-9301E31D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来源系统 + MessageId 唯一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原始载荷校验与保留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重复消息不重复建单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B31D1-4558-4C66-B45E-1D385CC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59AEA-E80C-4250-98FB-B312A18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6DBA4-A038-45C4-96F7-3A4A338B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出站状态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9EE58-CC6D-422C-9D90-2ABF1843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Pending → Processing → Sent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Failed → 重试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DeadLetter → 人工处理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F6C9A-5B80-41A6-B863-48C0DECF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55A789-68E9-4C69-8580-41A022C8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73C121-C6F5-43B8-8D3C-899DBE99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对账门禁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99F9D-9A76-4707-BACB-7CF1BDE8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MES 完工、仓储接收、ERP 入账分开表达；最终关闭前必须对账。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1AD627-F80E-43E3-B98E-C3FC368F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191EB8-6D5F-416F-81CA-B7DCB78C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模拟 ERP 必须走正式契约；禁止直接写业务表制造“成功”。</a:t>
            </a:r>
          </a:p>
        </p:txBody>
      </p:sp>
    </p:spTree>
    <p:extLst>
      <p:ext uri="{BB962C8B-B14F-4D97-AF65-F5344CB8AC3E}">
        <p14:creationId xmlns:p14="http://schemas.microsoft.com/office/powerpoint/2010/main" val="1931072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5DA9B9-D846-4F29-B699-CDBFBAD9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A95FB-771F-4E9B-81DE-A06DED2A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A2CAD-F8B1-4E03-BE24-37071B5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13 角色与权限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BDA80-614A-43BB-9ADA-459F6793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组合角色支持兼岗，但关键职责不能互相替代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77882-479C-4271-B28A-86B1A68B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A0586-52D7-4055-85E1-55A769F9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AEB0D-6FCE-4F85-9A3B-4483549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C2FEF-5C80-4BEE-8C49-7CB0B2FF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DD49B-A920-4AAD-983A-4AC0BC0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6742F-47A1-4C37-B312-F21044A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81EA2-7DC5-446B-93EA-FF27A20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09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允许的核心动作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858A8-2647-472E-A1AA-2696B67E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097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明确禁止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A89ED-26DB-46B5-A8D5-1485245D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BFDB5-B5AB-406F-842D-5AA1D178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计划员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3C3A6-0F62-4D80-8A67-49E163BB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接收、下达、暂停、短结订单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62802-C61E-46E2-B158-445E3D0A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66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修改 ERP 权威主数据；批准质量处置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B80CE-1C29-4469-B7A5-51D6441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B808E-D1D3-4D1C-83D6-FC0CCBA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操作工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8DE72-439A-406D-A342-4E70AF2E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扫码、装配绑定、固件、测试、缺陷报告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07798-D115-4C92-88AD-6A3CA974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修改测试规范；解除质量保留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557C9-0889-4B77-9365-06B34C6D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5397E-B90D-4743-96CB-1CF2EC16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工艺工程师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6320-9BF4-4BF4-B6CE-DD20EC7C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批准路线、作业和测试规范版本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926F7-6C8A-442F-9C5E-8C66233F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直接改已投产 SN 的执行依据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176CF-5CE8-4255-8D5B-1CA25D2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EB87A-C7A6-4594-96A3-12C91C9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质量工程师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2A01B-9F5B-487F-A1C7-387C1CE2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不合格评审、处置、返工/让步/报废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E15C7-A799-4CE8-BE57-D9871A5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覆盖原始测试；无依据放行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C1EA8-EBA0-43AD-84DD-7FFEB066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BFD86-E5AD-4A8F-A8E3-C28AD06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系统管理员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9E645-6CC4-4E20-85EC-B3AB9EA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账户、组合角色和技术配置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53F70-53EC-4167-A839-B24CBC25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天然拥有全部业务审批权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CC5A3-0B85-4F05-A8CD-D2B0C3E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审计记录必须回答：谁、何时、对什么对象、做了什么、为什么、关联哪条业务链。</a:t>
            </a:r>
          </a:p>
        </p:txBody>
      </p:sp>
    </p:spTree>
    <p:extLst>
      <p:ext uri="{BB962C8B-B14F-4D97-AF65-F5344CB8AC3E}">
        <p14:creationId xmlns:p14="http://schemas.microsoft.com/office/powerpoint/2010/main" val="1524512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A6B5C-F802-4F00-83F2-FC8EB616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7B674-7577-4641-BFA8-0EFA3CF9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02816-84C8-4B80-BDFC-36790BF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14 部署与运维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FA4A1-D74C-4B28-8C06-520315A1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私有化可交付的底线，是能安全启动、升级并恢复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CA6D1-174C-4C28-98C2-7E8803FB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C067-841F-41EA-B0C8-6D40FE4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BAB63-1404-48BF-8AD4-1882A56E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9AF3F-8905-42BD-B519-A1A879B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F82C0-D87C-415D-93F0-54655002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67924-FDFF-434E-8ED8-EB9BE61F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候选部署拓扑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14619-3367-4670-847B-3ED98EC6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1DB6B-C6D8-4DB5-B3AA-E1A5ABFC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3C519-CB28-48DA-91DB-4ECB630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Nginx / HTTPS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74D7C-65E5-4489-9A41-662A793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唯一网络入口；证书与反向代理策略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1051D-2AAD-4C85-B6F3-633CB648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47AB7-713B-4686-89CC-28B3707E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6C9BD-FE34-45CB-BE37-5C3B767B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ASP.NET Core API / 后台任务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C30F6-CFF6-4C99-B138-A56D023A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内网容器；健康检查；Outbox、重试与对账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4FBEB-7257-4065-8C22-9BC5657E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7A915-A151-4EE6-9B17-76934837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9300E-290F-41FD-A538-13AA47E9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SQL Server / 文件存储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7D752-033D-40BC-9382-FC853D2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最小权限账户；数据库只存校验值和引用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BB5F5-16FB-4665-BA3B-8E404BF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生产运行门禁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53FC5-B2AC-473F-908C-8F3992DD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29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Production 环境不允许示例密钥和默认账户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正式启动不得 EnsureCreated 或自动删库/装载种子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EF Migration 新装、升级与带数据回归通过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备份恢复演练达到候选 RPO 24h / RTO 4h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结构化日志、关联 ID、健康检查与容量基线可查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升级前备份；应用可回滚，数据恢复走验证流程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E3E9B-9CEE-4095-B367-2473588C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429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2711B-0781-4029-A31E-D6305FBC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RPO/RTO 只是试点候选目标，必须由客户连续性要求确认。</a:t>
            </a:r>
          </a:p>
        </p:txBody>
      </p:sp>
    </p:spTree>
    <p:extLst>
      <p:ext uri="{BB962C8B-B14F-4D97-AF65-F5344CB8AC3E}">
        <p14:creationId xmlns:p14="http://schemas.microsoft.com/office/powerpoint/2010/main" val="4346672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A67E7B-7F49-47EE-BAE3-484DDE6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25AF7-6830-401C-8C07-F6445CB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E37C6-8731-4B00-A8BA-D1F55AE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15 实施路线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C2CCA-905F-47CD-B891-6900C31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5–6 周救援按风险递减推进，不推倒重写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721FA-0C1C-4928-98DF-BF4D3E62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B9DAA-E866-400E-942D-FAA25860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FCC61-75C6-41C9-AC36-7C1A7ABC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8C5EE-299D-4FD0-A94A-9E40DC6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4F055-AB15-484C-A393-D103F8F5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A9280-4965-4156-B123-5D74A4F6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EEF7D-2E36-431D-8FE8-24FC3CE9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8DA05-BB71-468E-B3F4-B0F22CB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EC208-F31C-4FE0-A3D1-31B21F66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6F012-4C8D-4300-829B-1D6615C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88EA4-902B-4A8F-94AC-F1EE6F1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5EA32-ED3A-4A7D-AB19-85087CD5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0E129-E1BC-4677-B70D-0425C7C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9EEE5-6954-444F-8A2B-1D24A05A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B42DC-5987-406E-A5F1-67DFB46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SQL Server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18553-1E54-4EEE-8384-0BF82D66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9CB3B-5565-4FFE-BEB6-F20B464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009F9-760F-48A5-99E1-256F4E92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执行内核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08AD9-B209-4336-8481-7FAB91D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26D47-7D80-48C9-BA3B-1AA300D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身份物料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4CCD1-DC3E-4037-8E65-80CC06D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3750C-350E-4AAB-9D8C-FC0EECA5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6AAEB-72DC-45A5-BB22-B0002C9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质量谱系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9666C-DA69-42A1-8012-AA36A7B9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55590-2909-4DFB-9F33-CC63EF76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追溯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A852D-2127-4CAA-A7DE-83EEA749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8B0AE-AE8B-4A24-A461-4686C935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R4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356A0-8FFB-4CED-A379-753CA3D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集成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7A74C-302D-451D-B2DF-DE54BA2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0262A-1EBC-4693-9B99-E8989C65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Inbox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Outbox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对账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FC43FE-C9F7-412D-BE27-B9C00D1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204812-1293-4BEF-BC4D-91118850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R5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73489E-ACC3-4986-8D4B-D9D6AE01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一线 UI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789B7D-0ED9-48A7-B272-FD3273AE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93AD55-2E46-45FF-AB3E-06817C37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质量追溯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C4B410-A025-4C42-B834-8DDC970D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8FA883-E52F-4201-B65A-9E91DDA0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rPr>
              <a:t>R6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0E015E-2DA9-419C-88FF-FF85DD02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交付证据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FE6E9-1107-4BCC-84D1-712B9B6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756CC9-568D-4C44-810E-64715C3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A499F5-F5F4-46F5-8265-4D9BB7FB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108775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CED97E-1E61-43F9-9867-1A5320AE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1045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每个阶段都有退出条件；R5 前冻结非核心 UI，避免再次用页面数量掩盖领域缺口。</a:t>
            </a:r>
          </a:p>
        </p:txBody>
      </p:sp>
    </p:spTree>
    <p:extLst>
      <p:ext uri="{BB962C8B-B14F-4D97-AF65-F5344CB8AC3E}">
        <p14:creationId xmlns:p14="http://schemas.microsoft.com/office/powerpoint/2010/main" val="47919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88C04-B7EF-4A07-BAEE-B87061D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AD193-704E-44C8-84C1-BA7A0175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FDDCA-0DD9-473E-BAD6-CD24E836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16 可信度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BAADA-119F-4461-8882-1640DB6A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把“做出来”与“被真实工厂验证”分成五个等级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1BC30-DB2F-4601-BD17-AFAB899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8EFD8-EFF0-4466-AE7D-03740F6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2BE15-17DD-4617-A0A8-A25929BA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FC8EE-C92E-492E-92F2-01A9F9BD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BE7FA-EDF0-489C-8634-5ED80A44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4DBC4-0BB7-4C3C-98C8-ADF1D52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20002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40B80-C794-42DB-B2A9-3B579549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L0 未验证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B07D5-EF9C-486D-995F-EBDC74DE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有想法或文档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36B74-9B48-4F58-A100-FD90F36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200025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09FE4-5315-4271-ABFE-353DFC6D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671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L1 已实现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1B40D-C85A-4DF0-ABFD-CE6C24F8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62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代码与配置存在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3528-2AC0-43EB-B292-E2843A7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000250" cy="23622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FCC52-82D4-4245-BC3E-273F146F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L2 技术验证通过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8C250-DA4A-47EA-BF0F-9D6C01F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9570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自动化、SQL Server、浏览器、部署证据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4EFF3-030C-47EB-B4B0-6B5C0AC3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200025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9ED57-0AB6-46C9-B1DE-01C5CFE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86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rPr>
              <a:t>L3 从业者评审通过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7B3B7-B122-490C-AE8C-3040DED3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工艺/质量/计划专业人员评审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AFAF8-39B3-4C21-958B-8C932FC1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2000250" cy="35433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1C5CA-C229-4F41-A903-2E343F48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L4 真实现场验证通过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5366F-670D-4DC7-BD09-F05ECBEA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1460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真实工厂、真实数据、真实班次签字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F038F-994C-44EB-A6B8-7A7D1B42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858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4DCC50-0B9D-4072-8DB3-3544716B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当前目标：先达到 L2；在没有评审纪要和现场签字前，不跨级表述。</a:t>
            </a:r>
          </a:p>
        </p:txBody>
      </p:sp>
    </p:spTree>
    <p:extLst>
      <p:ext uri="{BB962C8B-B14F-4D97-AF65-F5344CB8AC3E}">
        <p14:creationId xmlns:p14="http://schemas.microsoft.com/office/powerpoint/2010/main" val="1075432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CC26C-9DC2-4EDD-B50D-C106009A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58C3F-B8AB-497C-A8D9-F038873C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A3E7-828C-4078-8381-81612A9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17 待澄清与下一步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553E2-688B-43B3-B264-0E3417C1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进入工作坊前，先把会改变方案的十二个问题摆出来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8EBE2-9F44-4AF0-96D2-85C9732A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C0A6F-4139-4D41-96CB-1EA2FCBE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6BE0E-D61F-4367-9A19-9FA84B0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08D87-1961-48E1-9913-F5EA94B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36C32-0C0D-42BC-90FB-F496BE7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17114-BADA-4898-A826-04E36DDB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715000" cy="4191000"/>
          </a:xfrm>
          <a:prstGeom xmlns:a="http://schemas.openxmlformats.org/drawingml/2006/main" prst="roundRect">
            <a:avLst>
              <a:gd name="adj" fmla="val 136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72916-F714-450E-9622-B7723FDA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62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69B08-CA30-4262-9CEE-E34180F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六类关键澄清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1794B-EDE4-4969-91C6-2E7E73B3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53911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01 真实装配路线、返工点与包装责任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02 SN、MAC、证书和标签的分配来源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03 哪些物料按 SN、Lot 或数量追溯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04 测试项目、阈值、设备与原始报告格式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05 ERP 产品、版本、接口与单据类型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06 验收人、试运行周期与签收标准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C717E-661F-450B-ACD7-5A9114D1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建议的三步验证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2FAAF-0ACB-4A0E-A6C6-8404CE7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857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CF57B-D1F4-40F9-AD5F-2A32E25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485EE-57EB-45A8-AEBD-AB55A30D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本周：价值流工作坊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E5190-6A35-4084-B4FF-37CACA6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确认范围、主路线、异常、责任和现场证据。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44E1B-CC91-476F-98E4-AE6BEED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857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1DBE6-FCB5-41A5-9E9F-C5AC11E1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DA583-B815-45EE-B9B2-B8474165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随后：样例数据与接口验证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4AE4E-3C87-40DE-AAC5-46891838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用真实编码、样例报文、错误码和技术账户验证契约。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A8C69-4FE5-4904-9EE3-3E1D2AA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4857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A6DB7-C7B4-4625-B2ED-21F2B4CE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F10A5-98CC-4A5E-B55D-435AE163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通过后：蓝图与估算基线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B1C3C-CE00-4F25-A499-C7E5FF1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482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固化 Fit-Gap、责任、UAT、计划、风险和上线门禁。</a:t>
            </a:r>
          </a:p>
        </p:txBody>
      </p:sp>
    </p:spTree>
    <p:extLst>
      <p:ext uri="{BB962C8B-B14F-4D97-AF65-F5344CB8AC3E}">
        <p14:creationId xmlns:p14="http://schemas.microsoft.com/office/powerpoint/2010/main" val="16909235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2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162FC-1C27-483F-8381-DAF159CC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8F57D-4722-4B36-8706-B37C7F84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85CDF-1D8E-47EF-8A6F-362F0DDC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先用一条可信事实链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08094-A7A0-4916-B71F-B7BD884F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证明 MES 试点价值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0849C-D928-405F-9EA2-E095D7B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订单与快照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31197-7D23-4EE1-BB65-3EA2755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制造事件与谱系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43946-AE56-4476-95E3-15D1BE2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质量与回执闭环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8C034-5C5F-4E24-BCC2-3FCFC8D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建议下一步：现场价值流工作坊 + 样例数据/接口验证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DEE82-3F3E-4557-9646-F550AA0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高级售前工程师  李文韬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FC981-2075-4528-87F3-39EF270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候选方案 0.1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FD088-2091-4EFD-BA29-B44941EF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102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912081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 PowerPoint</ap:Application>
  <ap:PresentationFormat>On-screen Show (16:9)</ap:PresentationFormat>
  <ap:Slides>19</ap:Slides>
  <ap:Notes>19</ap:Notes>
  <ap:HiddenSlides>0</ap:HiddenSlides>
  <ap:SharedDoc>false</ap:SharedDoc>
  <ap:DocSecurity>0</ap:DocSecurity>
  <ap:TotalTime>165</ap:TotalTime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李先生</dc:creator>
  <cp:lastModifiedBy>李先生</cp:lastModifiedBy>
  <dc:title>工业路由器装配 MES 试点候选方案</dc:title>
  <dcterms:created xsi:type="dcterms:W3CDTF">2026-07-28T07:20:00Z</dcterms:created>
  <dcterms:modified xsi:type="dcterms:W3CDTF">2026-07-29T07:25:00Z</dcterms:modified>
  <dc:subject>以成品 SN 全过程追溯为第一价值的候选方案、实施路线与验证边界</dc:subject>
  <cp:category>MES 方案汇报</cp:category>
  <cp:keywords>MES,工业路由器,单件追溯,项目方案</cp:keywords>
  <cp:revision>7</cp:revision>
</cp:coreProperties>
</file>